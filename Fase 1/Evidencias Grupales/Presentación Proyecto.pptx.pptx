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 Italics" charset="1" panose="020F05020202040A0204"/>
      <p:regular r:id="rId25"/>
    </p:embeddedFont>
    <p:embeddedFont>
      <p:font typeface="Calibri (MS)" charset="1" panose="020F0502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17486" y="925030"/>
            <a:ext cx="8512026" cy="8500729"/>
            <a:chOff x="0" y="0"/>
            <a:chExt cx="11349368" cy="113343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49355" cy="11334369"/>
            </a:xfrm>
            <a:custGeom>
              <a:avLst/>
              <a:gdLst/>
              <a:ahLst/>
              <a:cxnLst/>
              <a:rect r="r" b="b" t="t" l="l"/>
              <a:pathLst>
                <a:path h="11334369" w="11349355">
                  <a:moveTo>
                    <a:pt x="0" y="0"/>
                  </a:moveTo>
                  <a:lnTo>
                    <a:pt x="11349355" y="0"/>
                  </a:lnTo>
                  <a:lnTo>
                    <a:pt x="11349355" y="11334369"/>
                  </a:lnTo>
                  <a:lnTo>
                    <a:pt x="0" y="1133436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693374" y="4503157"/>
            <a:ext cx="378501" cy="378501"/>
            <a:chOff x="0" y="0"/>
            <a:chExt cx="589598" cy="589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9534" cy="589534"/>
            </a:xfrm>
            <a:custGeom>
              <a:avLst/>
              <a:gdLst/>
              <a:ahLst/>
              <a:cxnLst/>
              <a:rect r="r" b="b" t="t" l="l"/>
              <a:pathLst>
                <a:path h="589534" w="589534">
                  <a:moveTo>
                    <a:pt x="0" y="0"/>
                  </a:moveTo>
                  <a:lnTo>
                    <a:pt x="589534" y="0"/>
                  </a:lnTo>
                  <a:lnTo>
                    <a:pt x="589534" y="589534"/>
                  </a:lnTo>
                  <a:lnTo>
                    <a:pt x="0" y="5895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7" id="7"/>
          <p:cNvSpPr/>
          <p:nvPr/>
        </p:nvSpPr>
        <p:spPr>
          <a:xfrm rot="15840">
            <a:off x="10480015" y="6150207"/>
            <a:ext cx="6200842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641568" y="1810445"/>
            <a:ext cx="5063861" cy="1491596"/>
            <a:chOff x="0" y="0"/>
            <a:chExt cx="6751815" cy="198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51828" cy="1988701"/>
            </a:xfrm>
            <a:custGeom>
              <a:avLst/>
              <a:gdLst/>
              <a:ahLst/>
              <a:cxnLst/>
              <a:rect r="r" b="b" t="t" l="l"/>
              <a:pathLst>
                <a:path h="1988701" w="6751828">
                  <a:moveTo>
                    <a:pt x="0" y="0"/>
                  </a:moveTo>
                  <a:lnTo>
                    <a:pt x="6751828" y="0"/>
                  </a:lnTo>
                  <a:lnTo>
                    <a:pt x="6751828" y="1988701"/>
                  </a:lnTo>
                  <a:lnTo>
                    <a:pt x="0" y="1988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1889" r="0" b="-1176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73716" y="3902116"/>
            <a:ext cx="6566725" cy="1959083"/>
            <a:chOff x="0" y="0"/>
            <a:chExt cx="8755634" cy="2612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55634" cy="2612108"/>
            </a:xfrm>
            <a:custGeom>
              <a:avLst/>
              <a:gdLst/>
              <a:ahLst/>
              <a:cxnLst/>
              <a:rect r="r" b="b" t="t" l="l"/>
              <a:pathLst>
                <a:path h="2612108" w="8755634">
                  <a:moveTo>
                    <a:pt x="0" y="0"/>
                  </a:moveTo>
                  <a:lnTo>
                    <a:pt x="8755634" y="0"/>
                  </a:lnTo>
                  <a:lnTo>
                    <a:pt x="8755634" y="2612108"/>
                  </a:lnTo>
                  <a:lnTo>
                    <a:pt x="0" y="26121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12" r="0" b="-153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755634" cy="2650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 — RepInDepth</a:t>
              </a:r>
            </a:p>
            <a:p>
              <a:pPr algn="l">
                <a:lnSpc>
                  <a:spcPts val="2268"/>
                </a:lnSpc>
              </a:pPr>
              <a:r>
                <a:rPr lang="en-US" sz="2100" i="true">
                  <a:solidFill>
                    <a:srgbClr val="CFDD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 usuario nunca decide el peso: lo prescribe el motor.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405929" y="6429689"/>
            <a:ext cx="6534512" cy="52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106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CAPSTONE — Presentación Fase 1: Definición de Proyecto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75720" y="7198995"/>
            <a:ext cx="6057900" cy="122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Fernando Almonacid · Favio Pérez - Bastian Berrios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PT4614 Capstone – Sección 005D</a:t>
            </a:r>
          </a:p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Docente: Fabian Alejandro Alvarez Montenegro</a:t>
            </a:r>
          </a:p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Fecha: 03-09-26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3468" y="834180"/>
            <a:ext cx="7192280" cy="65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b="true" sz="4200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Índice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2565" y="2722245"/>
            <a:ext cx="7498080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1.  Executive Summary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2.  Definición del Proyecto y Relevancia Laboral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3.  Perfil de Egreso e Intereses Profesionales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4.  Objetivos del Proyecto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4.1 Viabilidad y mercado.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5.  Metodología de Trabajo Disciplinar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5480" y="2722245"/>
            <a:ext cx="7498080" cy="614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6.  Plan de Trabajo y Cronograma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7.  Factibilidad, Riesgos y Mitigaciones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8.  Evidencias e Indicadores de Calidad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9.  Conclusiones Individuales y Reflexión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10. Cierre y Preguntas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32550" cy="10287000"/>
            <a:chOff x="0" y="0"/>
            <a:chExt cx="231006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000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8443" y="608752"/>
            <a:ext cx="233458" cy="233458"/>
            <a:chOff x="0" y="0"/>
            <a:chExt cx="311277" cy="3112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1277" cy="311277"/>
            </a:xfrm>
            <a:custGeom>
              <a:avLst/>
              <a:gdLst/>
              <a:ahLst/>
              <a:cxnLst/>
              <a:rect r="r" b="b" t="t" l="l"/>
              <a:pathLst>
                <a:path h="311277" w="311277">
                  <a:moveTo>
                    <a:pt x="0" y="0"/>
                  </a:moveTo>
                  <a:lnTo>
                    <a:pt x="311277" y="0"/>
                  </a:lnTo>
                  <a:lnTo>
                    <a:pt x="311277" y="311277"/>
                  </a:lnTo>
                  <a:lnTo>
                    <a:pt x="0" y="311277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327870" y="725481"/>
            <a:ext cx="407156" cy="407156"/>
            <a:chOff x="0" y="0"/>
            <a:chExt cx="542874" cy="542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2925" cy="542925"/>
            </a:xfrm>
            <a:custGeom>
              <a:avLst/>
              <a:gdLst/>
              <a:ahLst/>
              <a:cxnLst/>
              <a:rect r="r" b="b" t="t" l="l"/>
              <a:pathLst>
                <a:path h="542925" w="542925">
                  <a:moveTo>
                    <a:pt x="0" y="0"/>
                  </a:moveTo>
                  <a:lnTo>
                    <a:pt x="542925" y="0"/>
                  </a:lnTo>
                  <a:lnTo>
                    <a:pt x="542925" y="542925"/>
                  </a:lnTo>
                  <a:lnTo>
                    <a:pt x="0" y="542925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857718" y="616372"/>
            <a:ext cx="7192280" cy="65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12"/>
              </a:lnSpc>
            </a:pPr>
            <a:r>
              <a:rPr lang="en-US" sz="3900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Executive Summary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75420" y="2114550"/>
            <a:ext cx="7840980" cy="588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RID — RepInDepth es una aplicación móvil de entrenamiento de fuerza cuya diferencia central es que la persona nunca decide cuánto peso levantar: un motor probabilístico en el servidor —filtro de Kalman sobre un modelo de estado de aptitud y fatiga, con predicción conforme adaptativa para acotar el riesgo— prescribe carga, repeticiones y descargas a partir del historial propio de cada persona.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El sistema opera sin generación de lenguaje ni chatbots: cada número que ve el usuario es la salida directa y auditable de un modelo estadístico.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El proyecto cumple una doble función: es el Portafolio de Título y, a la vez, un producto real, con su propio desarrollador como primer usuario. 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A la fecha de esta presentación, el equipo cuenta con motor de prescripción, esquema de base de datos con seguridad verificada, función de borde desplegada en producción y más de 200 pruebas automatizadas.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13153" y="4676840"/>
            <a:ext cx="10225793" cy="6391121"/>
            <a:chOff x="0" y="0"/>
            <a:chExt cx="10149840" cy="6343650"/>
          </a:xfrm>
        </p:grpSpPr>
        <p:sp>
          <p:nvSpPr>
            <p:cNvPr name="Freeform 5" id="5" descr="CU0 RID - Diagrama general.png"/>
            <p:cNvSpPr/>
            <p:nvPr/>
          </p:nvSpPr>
          <p:spPr>
            <a:xfrm flipH="false" flipV="false" rot="0">
              <a:off x="0" y="0"/>
              <a:ext cx="10149840" cy="6343650"/>
            </a:xfrm>
            <a:custGeom>
              <a:avLst/>
              <a:gdLst/>
              <a:ahLst/>
              <a:cxnLst/>
              <a:rect r="r" b="b" t="t" l="l"/>
              <a:pathLst>
                <a:path h="634365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6343650"/>
                  </a:lnTo>
                  <a:lnTo>
                    <a:pt x="0" y="634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-10" b="-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267597">
            <a:off x="3235348" y="4297511"/>
            <a:ext cx="4375936" cy="4375936"/>
          </a:xfrm>
          <a:custGeom>
            <a:avLst/>
            <a:gdLst/>
            <a:ahLst/>
            <a:cxnLst/>
            <a:rect r="r" b="b" t="t" l="l"/>
            <a:pathLst>
              <a:path h="4375936" w="4375936">
                <a:moveTo>
                  <a:pt x="0" y="0"/>
                </a:moveTo>
                <a:lnTo>
                  <a:pt x="4375936" y="0"/>
                </a:lnTo>
                <a:lnTo>
                  <a:pt x="4375936" y="4375936"/>
                </a:lnTo>
                <a:lnTo>
                  <a:pt x="0" y="43759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286815">
            <a:off x="4726273" y="5791741"/>
            <a:ext cx="1233794" cy="1434644"/>
          </a:xfrm>
          <a:custGeom>
            <a:avLst/>
            <a:gdLst/>
            <a:ahLst/>
            <a:cxnLst/>
            <a:rect r="r" b="b" t="t" l="l"/>
            <a:pathLst>
              <a:path h="1434644" w="1233794">
                <a:moveTo>
                  <a:pt x="0" y="0"/>
                </a:moveTo>
                <a:lnTo>
                  <a:pt x="1233794" y="0"/>
                </a:lnTo>
                <a:lnTo>
                  <a:pt x="1233794" y="1434644"/>
                </a:lnTo>
                <a:lnTo>
                  <a:pt x="0" y="14346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129343">
            <a:off x="14004058" y="584327"/>
            <a:ext cx="1327646" cy="1981561"/>
          </a:xfrm>
          <a:custGeom>
            <a:avLst/>
            <a:gdLst/>
            <a:ahLst/>
            <a:cxnLst/>
            <a:rect r="r" b="b" t="t" l="l"/>
            <a:pathLst>
              <a:path h="1981561" w="1327646">
                <a:moveTo>
                  <a:pt x="0" y="0"/>
                </a:moveTo>
                <a:lnTo>
                  <a:pt x="1327646" y="0"/>
                </a:lnTo>
                <a:lnTo>
                  <a:pt x="1327646" y="1981561"/>
                </a:lnTo>
                <a:lnTo>
                  <a:pt x="0" y="19815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2018" y="607626"/>
            <a:ext cx="8916362" cy="3844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6326" indent="-218163" lvl="1">
              <a:lnSpc>
                <a:spcPts val="2603"/>
              </a:lnSpc>
              <a:buFont typeface="Arial"/>
              <a:buChar char="•"/>
            </a:pPr>
            <a:r>
              <a:rPr lang="en-US" b="true" sz="24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 problema</a:t>
            </a:r>
          </a:p>
          <a:p>
            <a:pPr algn="just" marL="378149" indent="-189074" lvl="1">
              <a:lnSpc>
                <a:spcPts val="2256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Quien entrena sin guía profesional no sabe cuánto peso mover: subestimar detiene el progreso, sobrestimar aumenta el riesgo de lesión.</a:t>
            </a:r>
          </a:p>
          <a:p>
            <a:pPr algn="just" marL="378149" indent="-189074" lvl="1">
              <a:lnSpc>
                <a:spcPts val="2256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Las apps existentes registran series; casi ninguna decide la carga con una base estadística explícita y auditable.</a:t>
            </a:r>
          </a:p>
          <a:p>
            <a:pPr algn="just" marL="436326" indent="-218163" lvl="1">
              <a:lnSpc>
                <a:spcPts val="2603"/>
              </a:lnSpc>
              <a:buFont typeface="Arial"/>
              <a:buChar char="•"/>
            </a:pPr>
            <a:r>
              <a:rPr lang="en-US" b="true" sz="24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Relevancia para el campo laboral</a:t>
            </a:r>
          </a:p>
          <a:p>
            <a:pPr algn="just" marL="378149" indent="-189074" lvl="1">
              <a:lnSpc>
                <a:spcPts val="2256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Exige competencias de cuatro disciplinas de TI: </a:t>
            </a:r>
          </a:p>
          <a:p>
            <a:pPr algn="just" marL="902249" indent="-300750" lvl="2">
              <a:lnSpc>
                <a:spcPts val="2256"/>
              </a:lnSpc>
              <a:buFont typeface="Arial"/>
              <a:buChar char="⚬"/>
            </a:pPr>
            <a:r>
              <a:rPr lang="en-US" sz="2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ingeniería de software</a:t>
            </a:r>
          </a:p>
          <a:p>
            <a:pPr algn="just" marL="902249" indent="-300750" lvl="2">
              <a:lnSpc>
                <a:spcPts val="2256"/>
              </a:lnSpc>
              <a:buFont typeface="Arial"/>
              <a:buChar char="⚬"/>
            </a:pPr>
            <a:r>
              <a:rPr lang="en-US" sz="2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modelado de datos</a:t>
            </a:r>
          </a:p>
          <a:p>
            <a:pPr algn="just" marL="902249" indent="-300750" lvl="2">
              <a:lnSpc>
                <a:spcPts val="2256"/>
              </a:lnSpc>
              <a:buFont typeface="Arial"/>
              <a:buChar char="⚬"/>
            </a:pPr>
            <a:r>
              <a:rPr lang="en-US" sz="2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estadística aplicada</a:t>
            </a:r>
          </a:p>
          <a:p>
            <a:pPr algn="just" marL="902249" indent="-300750" lvl="2">
              <a:lnSpc>
                <a:spcPts val="2256"/>
              </a:lnSpc>
              <a:buFont typeface="Arial"/>
              <a:buChar char="⚬"/>
            </a:pPr>
            <a:r>
              <a:rPr lang="en-US" sz="2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DevOps.</a:t>
            </a:r>
          </a:p>
          <a:p>
            <a:pPr algn="just" marL="378149" indent="-189074" lvl="1">
              <a:lnSpc>
                <a:spcPts val="2256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Valor de negocio: la prescripción algorítmica de carga es la función difícil de imitar en un mercado saturado de apps de registro.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1163399">
            <a:off x="11775422" y="-25874"/>
            <a:ext cx="6005336" cy="3378002"/>
          </a:xfrm>
          <a:custGeom>
            <a:avLst/>
            <a:gdLst/>
            <a:ahLst/>
            <a:cxnLst/>
            <a:rect r="r" b="b" t="t" l="l"/>
            <a:pathLst>
              <a:path h="3378002" w="6005336">
                <a:moveTo>
                  <a:pt x="0" y="0"/>
                </a:moveTo>
                <a:lnTo>
                  <a:pt x="6005336" y="0"/>
                </a:lnTo>
                <a:lnTo>
                  <a:pt x="6005336" y="3378002"/>
                </a:lnTo>
                <a:lnTo>
                  <a:pt x="0" y="33780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52717">
            <a:off x="1297273" y="6636788"/>
            <a:ext cx="1822575" cy="2119274"/>
          </a:xfrm>
          <a:custGeom>
            <a:avLst/>
            <a:gdLst/>
            <a:ahLst/>
            <a:cxnLst/>
            <a:rect r="r" b="b" t="t" l="l"/>
            <a:pathLst>
              <a:path h="2119274" w="1822575">
                <a:moveTo>
                  <a:pt x="0" y="0"/>
                </a:moveTo>
                <a:lnTo>
                  <a:pt x="1822575" y="0"/>
                </a:lnTo>
                <a:lnTo>
                  <a:pt x="1822575" y="2119273"/>
                </a:lnTo>
                <a:lnTo>
                  <a:pt x="0" y="21192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60250">
            <a:off x="21011" y="5508875"/>
            <a:ext cx="4375099" cy="4375099"/>
          </a:xfrm>
          <a:custGeom>
            <a:avLst/>
            <a:gdLst/>
            <a:ahLst/>
            <a:cxnLst/>
            <a:rect r="r" b="b" t="t" l="l"/>
            <a:pathLst>
              <a:path h="4375099" w="4375099">
                <a:moveTo>
                  <a:pt x="0" y="0"/>
                </a:moveTo>
                <a:lnTo>
                  <a:pt x="4375099" y="0"/>
                </a:lnTo>
                <a:lnTo>
                  <a:pt x="4375099" y="4375099"/>
                </a:lnTo>
                <a:lnTo>
                  <a:pt x="0" y="43750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2512" y="1723501"/>
            <a:ext cx="8321040" cy="657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602" indent="-334801" lvl="1">
              <a:lnSpc>
                <a:spcPts val="3995"/>
              </a:lnSpc>
              <a:buFont typeface="Arial"/>
              <a:buChar char="•"/>
            </a:pPr>
            <a:r>
              <a:rPr lang="en-US" b="true" sz="36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Competencias del perfil puestas en práctica</a:t>
            </a:r>
          </a:p>
          <a:p>
            <a:pPr algn="l" marL="615309" indent="-307655" lvl="1">
              <a:lnSpc>
                <a:spcPts val="3671"/>
              </a:lnSpc>
              <a:buFont typeface="Arial"/>
              <a:buChar char="•"/>
            </a:pPr>
            <a:r>
              <a:rPr lang="en-US" sz="33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 de software: arquitectura en capas, TypeScript en modo estricto, pruebas basadas en propiedades.</a:t>
            </a:r>
          </a:p>
          <a:p>
            <a:pPr algn="l" marL="615309" indent="-307655" lvl="1">
              <a:lnSpc>
                <a:spcPts val="3671"/>
              </a:lnSpc>
              <a:buFont typeface="Arial"/>
              <a:buChar char="•"/>
            </a:pPr>
            <a:r>
              <a:rPr lang="en-US" sz="33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Modelado y administración de datos: PostgreSQL, migraciones versionadas, seguridad a nivel de fila verificada.</a:t>
            </a:r>
          </a:p>
          <a:p>
            <a:pPr algn="l" marL="615309" indent="-307655" lvl="1">
              <a:lnSpc>
                <a:spcPts val="3671"/>
              </a:lnSpc>
              <a:buFont typeface="Arial"/>
              <a:buChar char="•"/>
            </a:pPr>
            <a:r>
              <a:rPr lang="en-US" sz="33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Integración y despliegue de sistemas: Supabase, funciones edge en Deno, integración continua.</a:t>
            </a:r>
          </a:p>
          <a:p>
            <a:pPr algn="l" marL="615309" indent="-307655" lvl="1">
              <a:lnSpc>
                <a:spcPts val="3671"/>
              </a:lnSpc>
              <a:buFont typeface="Arial"/>
              <a:buChar char="•"/>
            </a:pPr>
            <a:r>
              <a:rPr lang="en-US" sz="33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Aplicación de métodos cuantitativos: filtro de Kalman, modelo jerárquico bayesiano, predicción conforme.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8380" y="1523619"/>
            <a:ext cx="7429500" cy="401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Intereses profesionales del equipo</a:t>
            </a:r>
          </a:p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3A3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Fernando Almonacid</a:t>
            </a:r>
          </a:p>
          <a:p>
            <a:pPr algn="l">
              <a:lnSpc>
                <a:spcPts val="4439"/>
              </a:lnSpc>
            </a:pPr>
          </a:p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3A3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Favio Pérez </a:t>
            </a:r>
          </a:p>
          <a:p>
            <a:pPr algn="l">
              <a:lnSpc>
                <a:spcPts val="4439"/>
              </a:lnSpc>
            </a:pPr>
          </a:p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3A3A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Bastián Berrios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2512" y="1713976"/>
            <a:ext cx="16139160" cy="598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05" indent="-325752" lvl="1">
              <a:lnSpc>
                <a:spcPts val="3887"/>
              </a:lnSpc>
              <a:buFont typeface="Arial"/>
              <a:buChar char="•"/>
            </a:pPr>
            <a:r>
              <a:rPr lang="en-US" b="true" sz="35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general</a:t>
            </a:r>
          </a:p>
          <a:p>
            <a:pPr algn="l" marL="597212" indent="-298606" lvl="1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una aplicación móvil de entrenamiento de fuerza cuyo motor probabilístico prescriba automáticamente la carga, las repeticiones y las descargas de cada persona, eliminando la necesidad de que decida el peso por sí misma.</a:t>
            </a:r>
          </a:p>
          <a:p>
            <a:pPr algn="l" marL="651505" indent="-325752" lvl="1">
              <a:lnSpc>
                <a:spcPts val="3887"/>
              </a:lnSpc>
              <a:buFont typeface="Arial"/>
              <a:buChar char="•"/>
            </a:pPr>
            <a:r>
              <a:rPr lang="en-US" b="true" sz="35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  <a:p>
            <a:pPr algn="l" marL="597212" indent="-298606" lvl="1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1.  Diseñar y verificar un esquema de base de datos con seguridad a nivel de fila comprobada, para aislar los datos de cada usuario.</a:t>
            </a:r>
          </a:p>
          <a:p>
            <a:pPr algn="l" marL="597212" indent="-298606" lvl="1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2.  Implementar el motor de prescripción —observación, filtrado de Kalman, transferencia entre familias de ejercicio, decisión— con cobertura de pruebas automatizadas.</a:t>
            </a:r>
          </a:p>
          <a:p>
            <a:pPr algn="l" marL="597212" indent="-298606" lvl="1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3.  Desplegar el motor como servicio en la nube, separando por privilegio la clave de usuario y la clave de servicio.</a:t>
            </a:r>
          </a:p>
          <a:p>
            <a:pPr algn="l" marL="597212" indent="-298606" lvl="1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4.  Incorporar el registro de series por reconocimiento de voz, con validación de rango físico y biográfico, operable sin conexión.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394074" y="300459"/>
            <a:ext cx="1368275" cy="3698039"/>
          </a:xfrm>
          <a:custGeom>
            <a:avLst/>
            <a:gdLst/>
            <a:ahLst/>
            <a:cxnLst/>
            <a:rect r="r" b="b" t="t" l="l"/>
            <a:pathLst>
              <a:path h="3698039" w="1368275">
                <a:moveTo>
                  <a:pt x="0" y="0"/>
                </a:moveTo>
                <a:lnTo>
                  <a:pt x="1368274" y="0"/>
                </a:lnTo>
                <a:lnTo>
                  <a:pt x="1368274" y="3698039"/>
                </a:lnTo>
                <a:lnTo>
                  <a:pt x="0" y="36980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1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38145" y="4178408"/>
            <a:ext cx="13101537" cy="6108592"/>
          </a:xfrm>
          <a:custGeom>
            <a:avLst/>
            <a:gdLst/>
            <a:ahLst/>
            <a:cxnLst/>
            <a:rect r="r" b="b" t="t" l="l"/>
            <a:pathLst>
              <a:path h="6108592" w="13101537">
                <a:moveTo>
                  <a:pt x="0" y="0"/>
                </a:moveTo>
                <a:lnTo>
                  <a:pt x="13101537" y="0"/>
                </a:lnTo>
                <a:lnTo>
                  <a:pt x="13101537" y="6108592"/>
                </a:lnTo>
                <a:lnTo>
                  <a:pt x="0" y="610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638175"/>
            <a:ext cx="527870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Via</a:t>
            </a: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bilidad y mercado.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09650"/>
            <a:ext cx="653892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Dos fenómenos opuestos que, juntos, def</a:t>
            </a: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inen la oportunidad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191364"/>
            <a:ext cx="3111856" cy="10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2"/>
              </a:lnSpc>
            </a:pPr>
            <a:r>
              <a:rPr lang="en-US" sz="6354" b="true">
                <a:solidFill>
                  <a:srgbClr val="8A2B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51,2 %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275430"/>
            <a:ext cx="3111856" cy="72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445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De la población es fisicamente inactiva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44281" y="2191364"/>
            <a:ext cx="3111856" cy="10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2"/>
              </a:lnSpc>
            </a:pPr>
            <a:r>
              <a:rPr lang="en-US" sz="6354" b="true">
                <a:solidFill>
                  <a:srgbClr val="8A2B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33 %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44281" y="3275430"/>
            <a:ext cx="3111856" cy="72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445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No realiza ninguna actividad fisica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28212" y="2191364"/>
            <a:ext cx="3111856" cy="10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2"/>
              </a:lnSpc>
            </a:pPr>
            <a:r>
              <a:rPr lang="en-US" b="true" sz="6354">
                <a:solidFill>
                  <a:srgbClr val="0266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+67 %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00523" y="3275430"/>
            <a:ext cx="3111856" cy="72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1"/>
              </a:lnSpc>
            </a:pPr>
            <a:r>
              <a:rPr lang="en-US" sz="2445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Crecimiento de sedes smart fit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47444" y="2191364"/>
            <a:ext cx="3111856" cy="10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2"/>
              </a:lnSpc>
            </a:pPr>
            <a:r>
              <a:rPr lang="en-US" b="true" sz="6354">
                <a:solidFill>
                  <a:srgbClr val="0266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≈ 2.000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19755" y="3275430"/>
            <a:ext cx="3111856" cy="72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1"/>
              </a:lnSpc>
            </a:pPr>
            <a:r>
              <a:rPr lang="en-US" sz="2445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Gimnasios operando en Chile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829342"/>
            <a:ext cx="18288000" cy="8526780"/>
          </a:xfrm>
          <a:custGeom>
            <a:avLst/>
            <a:gdLst/>
            <a:ahLst/>
            <a:cxnLst/>
            <a:rect r="r" b="b" t="t" l="l"/>
            <a:pathLst>
              <a:path h="8526780" w="18288000">
                <a:moveTo>
                  <a:pt x="0" y="0"/>
                </a:moveTo>
                <a:lnTo>
                  <a:pt x="18288000" y="0"/>
                </a:lnTo>
                <a:lnTo>
                  <a:pt x="18288000" y="8526780"/>
                </a:lnTo>
                <a:lnTo>
                  <a:pt x="0" y="8526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863" y="2172693"/>
            <a:ext cx="13846310" cy="7892397"/>
          </a:xfrm>
          <a:custGeom>
            <a:avLst/>
            <a:gdLst/>
            <a:ahLst/>
            <a:cxnLst/>
            <a:rect r="r" b="b" t="t" l="l"/>
            <a:pathLst>
              <a:path h="7892397" w="13846310">
                <a:moveTo>
                  <a:pt x="0" y="0"/>
                </a:moveTo>
                <a:lnTo>
                  <a:pt x="13846310" y="0"/>
                </a:lnTo>
                <a:lnTo>
                  <a:pt x="13846310" y="7892397"/>
                </a:lnTo>
                <a:lnTo>
                  <a:pt x="0" y="78923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939564" y="2620273"/>
            <a:ext cx="3799382" cy="5046454"/>
            <a:chOff x="0" y="0"/>
            <a:chExt cx="1000660" cy="13291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0660" cy="1329107"/>
            </a:xfrm>
            <a:custGeom>
              <a:avLst/>
              <a:gdLst/>
              <a:ahLst/>
              <a:cxnLst/>
              <a:rect r="r" b="b" t="t" l="l"/>
              <a:pathLst>
                <a:path h="1329107" w="1000660">
                  <a:moveTo>
                    <a:pt x="103922" y="0"/>
                  </a:moveTo>
                  <a:lnTo>
                    <a:pt x="896739" y="0"/>
                  </a:lnTo>
                  <a:cubicBezTo>
                    <a:pt x="924300" y="0"/>
                    <a:pt x="950733" y="10949"/>
                    <a:pt x="970222" y="30438"/>
                  </a:cubicBezTo>
                  <a:cubicBezTo>
                    <a:pt x="989711" y="49927"/>
                    <a:pt x="1000660" y="76360"/>
                    <a:pt x="1000660" y="103922"/>
                  </a:cubicBezTo>
                  <a:lnTo>
                    <a:pt x="1000660" y="1225186"/>
                  </a:lnTo>
                  <a:cubicBezTo>
                    <a:pt x="1000660" y="1282580"/>
                    <a:pt x="954133" y="1329107"/>
                    <a:pt x="896739" y="1329107"/>
                  </a:cubicBezTo>
                  <a:lnTo>
                    <a:pt x="103922" y="1329107"/>
                  </a:lnTo>
                  <a:cubicBezTo>
                    <a:pt x="46527" y="1329107"/>
                    <a:pt x="0" y="1282580"/>
                    <a:pt x="0" y="1225186"/>
                  </a:cubicBezTo>
                  <a:lnTo>
                    <a:pt x="0" y="103922"/>
                  </a:lnTo>
                  <a:cubicBezTo>
                    <a:pt x="0" y="46527"/>
                    <a:pt x="46527" y="0"/>
                    <a:pt x="103922" y="0"/>
                  </a:cubicBezTo>
                  <a:close/>
                </a:path>
              </a:pathLst>
            </a:custGeom>
            <a:solidFill>
              <a:srgbClr val="CFDDF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0660" cy="1348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437296"/>
            <a:ext cx="7904847" cy="114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 hueco: entran, no progresan, se van</a:t>
            </a:r>
          </a:p>
          <a:p>
            <a:pPr algn="l">
              <a:lnSpc>
                <a:spcPts val="417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29342" y="1377216"/>
            <a:ext cx="1110876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“Precio” es casi siempre un sustituto de “no obtengo suf</a:t>
            </a: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iciente valor”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65506" y="5501150"/>
            <a:ext cx="3123176" cy="1270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4"/>
              </a:lnSpc>
            </a:pPr>
            <a:r>
              <a:rPr lang="en-US" sz="7856" b="true">
                <a:solidFill>
                  <a:srgbClr val="8A2B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60 %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65506" y="3439051"/>
            <a:ext cx="3123176" cy="1270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4"/>
              </a:lnSpc>
            </a:pPr>
            <a:r>
              <a:rPr lang="en-US" b="true" sz="7856">
                <a:solidFill>
                  <a:srgbClr val="0266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+87 %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65506" y="3044070"/>
            <a:ext cx="3123176" cy="47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925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 prueba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65506" y="4690600"/>
            <a:ext cx="3123176" cy="88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08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sigue activo a los 6 meses</a:t>
            </a:r>
          </a:p>
          <a:p>
            <a:pPr algn="l">
              <a:lnSpc>
                <a:spcPts val="2256"/>
              </a:lnSpc>
            </a:pPr>
            <a:r>
              <a:rPr lang="en-US" sz="208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con incorporación estructurada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65506" y="6748925"/>
            <a:ext cx="3123176" cy="32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208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sin ella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2339241"/>
            <a:ext cx="15524264" cy="7226674"/>
          </a:xfrm>
          <a:custGeom>
            <a:avLst/>
            <a:gdLst/>
            <a:ahLst/>
            <a:cxnLst/>
            <a:rect r="r" b="b" t="t" l="l"/>
            <a:pathLst>
              <a:path h="7226674" w="15524264">
                <a:moveTo>
                  <a:pt x="0" y="0"/>
                </a:moveTo>
                <a:lnTo>
                  <a:pt x="15524264" y="0"/>
                </a:lnTo>
                <a:lnTo>
                  <a:pt x="15524264" y="7226674"/>
                </a:lnTo>
                <a:lnTo>
                  <a:pt x="0" y="72266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5486" r="0" b="-816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437296"/>
            <a:ext cx="7904847" cy="114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</a:t>
            </a: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solución existente es inasequible</a:t>
            </a:r>
          </a:p>
          <a:p>
            <a:pPr algn="l">
              <a:lnSpc>
                <a:spcPts val="417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29342" y="1377216"/>
            <a:ext cx="128604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 entrenador personal cuesta cinco veces la mensualidad del g</a:t>
            </a: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imnasio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1767741"/>
            <a:ext cx="10503779" cy="8519259"/>
          </a:xfrm>
          <a:custGeom>
            <a:avLst/>
            <a:gdLst/>
            <a:ahLst/>
            <a:cxnLst/>
            <a:rect r="r" b="b" t="t" l="l"/>
            <a:pathLst>
              <a:path h="8519259" w="10503779">
                <a:moveTo>
                  <a:pt x="0" y="0"/>
                </a:moveTo>
                <a:lnTo>
                  <a:pt x="10503779" y="0"/>
                </a:lnTo>
                <a:lnTo>
                  <a:pt x="10503779" y="8519259"/>
                </a:lnTo>
                <a:lnTo>
                  <a:pt x="0" y="851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437296"/>
            <a:ext cx="7904847" cy="114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</a:t>
            </a: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espacio está vacante</a:t>
            </a:r>
          </a:p>
          <a:p>
            <a:pPr algn="l">
              <a:lnSpc>
                <a:spcPts val="417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29342" y="1377216"/>
            <a:ext cx="128604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Ninguna aplicación de prescripción automática está localizada en español ch</a:t>
            </a: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ileno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17809" y="5315878"/>
            <a:ext cx="634149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Fitbod, Juggernaut y RP operan en inglés, con precios en dólares y sin adaptación local.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03779" y="4944403"/>
            <a:ext cx="675552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Prescripción, pero en inglés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17809" y="3804211"/>
            <a:ext cx="634149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Strong y Hevy registran lo que haces. No deciden nada: el usuario debe saber qué peso poner.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03779" y="3432736"/>
            <a:ext cx="675552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Registro, no prescripción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17809" y="6830353"/>
            <a:ext cx="634149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Fitbod ajusta su modelo sobre consistencia interna, no contra máximos medidos. Y excluye dominadas y fondos.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03779" y="6458878"/>
            <a:ext cx="675552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Calibración sin verificar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2262095"/>
            <a:ext cx="10189454" cy="6996205"/>
          </a:xfrm>
          <a:custGeom>
            <a:avLst/>
            <a:gdLst/>
            <a:ahLst/>
            <a:cxnLst/>
            <a:rect r="r" b="b" t="t" l="l"/>
            <a:pathLst>
              <a:path h="6996205" w="10189454">
                <a:moveTo>
                  <a:pt x="0" y="0"/>
                </a:moveTo>
                <a:lnTo>
                  <a:pt x="10189454" y="0"/>
                </a:lnTo>
                <a:lnTo>
                  <a:pt x="10189454" y="6996205"/>
                </a:lnTo>
                <a:lnTo>
                  <a:pt x="0" y="69962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390" t="-10307" r="-17410" b="-1886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437296"/>
            <a:ext cx="7904847" cy="62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Dim</a:t>
            </a: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ensionamiento del mercado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9342" y="1377216"/>
            <a:ext cx="951634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la población total al mercado alcanzable el pr</a:t>
            </a: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imer año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78651" y="2510691"/>
            <a:ext cx="571136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asisten a gimnasio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59827" y="1710591"/>
            <a:ext cx="333019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244D7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1,50 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78651" y="1710591"/>
            <a:ext cx="238117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244D7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78651" y="4269250"/>
            <a:ext cx="571136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entrenan fuerza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59827" y="3469150"/>
            <a:ext cx="333019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5B3E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610 Mil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78651" y="3469150"/>
            <a:ext cx="238117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5B3E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78651" y="6031375"/>
            <a:ext cx="571136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pagarían la aplicación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59827" y="5231275"/>
            <a:ext cx="333019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8137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31 Mil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78651" y="5231275"/>
            <a:ext cx="238117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b="true">
                <a:solidFill>
                  <a:srgbClr val="8137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01885" y="2097328"/>
            <a:ext cx="13084230" cy="6092345"/>
          </a:xfrm>
          <a:custGeom>
            <a:avLst/>
            <a:gdLst/>
            <a:ahLst/>
            <a:cxnLst/>
            <a:rect r="r" b="b" t="t" l="l"/>
            <a:pathLst>
              <a:path h="6092345" w="13084230">
                <a:moveTo>
                  <a:pt x="0" y="0"/>
                </a:moveTo>
                <a:lnTo>
                  <a:pt x="13084230" y="0"/>
                </a:lnTo>
                <a:lnTo>
                  <a:pt x="13084230" y="6092344"/>
                </a:lnTo>
                <a:lnTo>
                  <a:pt x="0" y="6092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37296"/>
            <a:ext cx="7904847" cy="62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 umbral </a:t>
            </a:r>
            <a:r>
              <a:rPr lang="en-US" sz="3862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económico es bajo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9342" y="1377216"/>
            <a:ext cx="951634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7" indent="-226219" lvl="1">
              <a:lnSpc>
                <a:spcPts val="2699"/>
              </a:lnSpc>
              <a:buFont typeface="Arial"/>
              <a:buChar char="•"/>
            </a:pPr>
            <a:r>
              <a:rPr lang="en-US" b="true" sz="24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Sesenta suscriptores: el 0,2 % del mercado alcanzable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97466" y="8439150"/>
            <a:ext cx="333019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5000">
                <a:solidFill>
                  <a:srgbClr val="6B6B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$255.000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60343" y="8439150"/>
            <a:ext cx="333019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5000">
                <a:solidFill>
                  <a:srgbClr val="D8B8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0932" y="8439150"/>
            <a:ext cx="333019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5000">
                <a:solidFill>
                  <a:srgbClr val="0266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$4.990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06877" y="8439150"/>
            <a:ext cx="333019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5000">
                <a:solidFill>
                  <a:srgbClr val="D8B8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0,2 %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0932" y="9262110"/>
            <a:ext cx="33301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precio objetivo mensual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97466" y="9262110"/>
            <a:ext cx="33301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costos fijos mensuales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60343" y="9250080"/>
            <a:ext cx="33301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suscriptores de equilibrio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6877" y="9262110"/>
            <a:ext cx="33301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499">
                <a:solidFill>
                  <a:srgbClr val="1F3A5F"/>
                </a:solidFill>
                <a:latin typeface="Calibri (MS)"/>
                <a:ea typeface="Calibri (MS)"/>
                <a:cs typeface="Calibri (MS)"/>
                <a:sym typeface="Calibri (MS)"/>
              </a:rPr>
              <a:t>del mercado alcanzable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571244"/>
            <a:ext cx="8321040" cy="688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05" indent="-325752" lvl="1">
              <a:lnSpc>
                <a:spcPts val="3887"/>
              </a:lnSpc>
              <a:buFont typeface="Arial"/>
              <a:buChar char="•"/>
            </a:pPr>
            <a:r>
              <a:rPr lang="en-US" b="true" sz="3599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Desarrollo iterativo por fases, con verificación como condición de avance</a:t>
            </a:r>
          </a:p>
          <a:p>
            <a:pPr algn="l" marL="597212" indent="-298606" lvl="1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Backlog único de 40 tareas con dependencias explícitas, gestionado en Zoho Projects: trazabilidad y priorización de flujo continuo.</a:t>
            </a:r>
          </a:p>
          <a:p>
            <a:pPr algn="l" marL="597212" indent="-298606" lvl="1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Cada decisión de arquitectura relevante se documenta como ADR (Architecture Decision Record) antes de implementarse.</a:t>
            </a:r>
          </a:p>
          <a:p>
            <a:pPr algn="l" marL="597212" indent="-298606" lvl="1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El proyecto avanza en seis fases con criterio de cierre verificable: no se declara una fase cerrada sin pasar su propio banco de pruebas.</a:t>
            </a:r>
          </a:p>
          <a:p>
            <a:pPr algn="l" marL="597212" indent="-298606" lvl="1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Todo código de decisión se acompaña de pruebas, con énfasis en pruebas basadas en propiedades para el motor estadístico.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8380" y="1523619"/>
            <a:ext cx="7429500" cy="657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¿Por qué esta metodología?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El riesgo del proyecto no es de alcance: es de corrección silenciosa. Un motor estadístico mal calibrado no falla — prescribe mal sin avisar.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Por eso el proceso prioriza verificación explícita en cada fase por sobre velocidad de entrega.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Ejemplo real: la verificación de seguridad encontró y cerró 10 fallos de acceso entre usuarios antes de avanzar de fase — ninguno habría aparecido por inspección simple del código.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60120" y="1851660"/>
          <a:ext cx="15601950" cy="4800600"/>
        </p:xfrm>
        <a:graphic>
          <a:graphicData uri="http://schemas.openxmlformats.org/drawingml/2006/table">
            <a:tbl>
              <a:tblPr/>
              <a:tblGrid>
                <a:gridCol w="2326607"/>
                <a:gridCol w="2052888"/>
                <a:gridCol w="1231733"/>
                <a:gridCol w="9990722"/>
              </a:tblGrid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Fechas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Tareas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Entregable clave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9C"/>
                    </a:solidFill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· Esquema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01–10 sep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Esquema de base de datos con seguridad verificada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 · Motor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11–23 sep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Motor de prescripción desplegado y probado de punta a punta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 · Aplicación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 sep – 23 oct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App móvil con registro de series por voz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 · Catálogo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24 sep – 15 oct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Catálogo curado y sustitutos precomputados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 · Deuda técnica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16–28 oct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Normativa poblacional y unidades del modelo de e1RM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 · Cierre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26 oct – 11 nov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Portafolio de Título entregado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51560" y="7061835"/>
            <a:ext cx="16139160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Recursos asignados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(plan gestionado, sin costo en esta etapa) · GitHub Actions para integración continua · repositorio Git compartido · dos integrantes: Fernando (motor y backend), Favio (verificación y seguridad).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9342" cy="829342"/>
            <a:chOff x="0" y="0"/>
            <a:chExt cx="1105789" cy="110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789" cy="1105789"/>
            </a:xfrm>
            <a:custGeom>
              <a:avLst/>
              <a:gdLst/>
              <a:ahLst/>
              <a:cxnLst/>
              <a:rect r="r" b="b" t="t" l="l"/>
              <a:pathLst>
                <a:path h="1105789" w="1105789">
                  <a:moveTo>
                    <a:pt x="0" y="0"/>
                  </a:moveTo>
                  <a:lnTo>
                    <a:pt x="1105789" y="0"/>
                  </a:lnTo>
                  <a:lnTo>
                    <a:pt x="1105789" y="1105789"/>
                  </a:lnTo>
                  <a:lnTo>
                    <a:pt x="0" y="1105789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1560" y="1653540"/>
            <a:ext cx="161391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true">
                <a:solidFill>
                  <a:srgbClr val="3A3A3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Factibilidad: la Fase A está cerrada, con seguridad verificada en 51 casos por dirección y motor con más de 200 pruebas en verde a la fecha de esta presentación — el resto del cronograma opera sobre una base ya probada.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60120" y="2606040"/>
          <a:ext cx="16306800" cy="5257800"/>
        </p:xfrm>
        <a:graphic>
          <a:graphicData uri="http://schemas.openxmlformats.org/drawingml/2006/table">
            <a:tbl>
              <a:tblPr/>
              <a:tblGrid>
                <a:gridCol w="6440501"/>
                <a:gridCol w="2192511"/>
                <a:gridCol w="7673788"/>
              </a:tblGrid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Riesgo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B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Impacto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B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Mitigación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B2B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Una política de seguridad mal escrita expone datos entre usuarios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Alto, silencioso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Banco de verificación por rol, en ambas direcciones, antes de avanzar de fase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Corrupción silenciosa de datos (ej. una matriz guardada en forma incorrecta)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Alto, difícil de detectar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Traductores con pruebas basadas en propiedades en vez de conversiones sin verificar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Falta de normativa de fuerza para población chilena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Medio, afecta precisión del prior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Documentado como deuda técnica declarada; priors amplios mientras no haya datos propios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Ambigüedad de unidades en el modelo de e1RM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Transición de respaldo a un modelo alterno bajo el umbral donde el principal pierde condición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Dependencia de un proveedor gestionado (Supabase)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Bajo, mitigable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3A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Migraciones versionadas y portables a PostgreSQL estándar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32550" cy="10287000"/>
            <a:chOff x="0" y="0"/>
            <a:chExt cx="231006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000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8443" y="608752"/>
            <a:ext cx="233458" cy="233458"/>
            <a:chOff x="0" y="0"/>
            <a:chExt cx="311277" cy="3112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1277" cy="311277"/>
            </a:xfrm>
            <a:custGeom>
              <a:avLst/>
              <a:gdLst/>
              <a:ahLst/>
              <a:cxnLst/>
              <a:rect r="r" b="b" t="t" l="l"/>
              <a:pathLst>
                <a:path h="311277" w="311277">
                  <a:moveTo>
                    <a:pt x="0" y="0"/>
                  </a:moveTo>
                  <a:lnTo>
                    <a:pt x="311277" y="0"/>
                  </a:lnTo>
                  <a:lnTo>
                    <a:pt x="311277" y="311277"/>
                  </a:lnTo>
                  <a:lnTo>
                    <a:pt x="0" y="311277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327870" y="725481"/>
            <a:ext cx="407156" cy="407156"/>
            <a:chOff x="0" y="0"/>
            <a:chExt cx="542874" cy="542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2925" cy="542925"/>
            </a:xfrm>
            <a:custGeom>
              <a:avLst/>
              <a:gdLst/>
              <a:ahLst/>
              <a:cxnLst/>
              <a:rect r="r" b="b" t="t" l="l"/>
              <a:pathLst>
                <a:path h="542925" w="542925">
                  <a:moveTo>
                    <a:pt x="0" y="0"/>
                  </a:moveTo>
                  <a:lnTo>
                    <a:pt x="542925" y="0"/>
                  </a:lnTo>
                  <a:lnTo>
                    <a:pt x="542925" y="542925"/>
                  </a:lnTo>
                  <a:lnTo>
                    <a:pt x="0" y="542925"/>
                  </a:lnTo>
                  <a:close/>
                </a:path>
              </a:pathLst>
            </a:custGeom>
            <a:solidFill>
              <a:srgbClr val="4E7CD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838589" y="9466898"/>
            <a:ext cx="1302858" cy="422700"/>
          </a:xfrm>
          <a:custGeom>
            <a:avLst/>
            <a:gdLst/>
            <a:ahLst/>
            <a:cxnLst/>
            <a:rect r="r" b="b" t="t" l="l"/>
            <a:pathLst>
              <a:path h="422700" w="1302858">
                <a:moveTo>
                  <a:pt x="0" y="0"/>
                </a:moveTo>
                <a:lnTo>
                  <a:pt x="1302858" y="0"/>
                </a:lnTo>
                <a:lnTo>
                  <a:pt x="1302858" y="422700"/>
                </a:lnTo>
                <a:lnTo>
                  <a:pt x="0" y="42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231611" y="9502426"/>
            <a:ext cx="312811" cy="388458"/>
            <a:chOff x="0" y="0"/>
            <a:chExt cx="417081" cy="5179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6687" cy="517906"/>
            </a:xfrm>
            <a:custGeom>
              <a:avLst/>
              <a:gdLst/>
              <a:ahLst/>
              <a:cxnLst/>
              <a:rect r="r" b="b" t="t" l="l"/>
              <a:pathLst>
                <a:path h="517906" w="416687">
                  <a:moveTo>
                    <a:pt x="416560" y="0"/>
                  </a:moveTo>
                  <a:lnTo>
                    <a:pt x="301625" y="0"/>
                  </a:lnTo>
                  <a:lnTo>
                    <a:pt x="301625" y="293370"/>
                  </a:lnTo>
                  <a:lnTo>
                    <a:pt x="295529" y="352044"/>
                  </a:lnTo>
                  <a:lnTo>
                    <a:pt x="277495" y="393319"/>
                  </a:lnTo>
                  <a:lnTo>
                    <a:pt x="248158" y="417703"/>
                  </a:lnTo>
                  <a:lnTo>
                    <a:pt x="208026" y="425704"/>
                  </a:lnTo>
                  <a:lnTo>
                    <a:pt x="168783" y="417322"/>
                  </a:lnTo>
                  <a:lnTo>
                    <a:pt x="139700" y="392430"/>
                  </a:lnTo>
                  <a:lnTo>
                    <a:pt x="121793" y="351028"/>
                  </a:lnTo>
                  <a:lnTo>
                    <a:pt x="115697" y="293370"/>
                  </a:lnTo>
                  <a:lnTo>
                    <a:pt x="115697" y="0"/>
                  </a:lnTo>
                  <a:lnTo>
                    <a:pt x="0" y="0"/>
                  </a:lnTo>
                  <a:lnTo>
                    <a:pt x="0" y="284226"/>
                  </a:lnTo>
                  <a:lnTo>
                    <a:pt x="4572" y="348361"/>
                  </a:lnTo>
                  <a:lnTo>
                    <a:pt x="18034" y="401701"/>
                  </a:lnTo>
                  <a:lnTo>
                    <a:pt x="39878" y="444500"/>
                  </a:lnTo>
                  <a:lnTo>
                    <a:pt x="69850" y="477139"/>
                  </a:lnTo>
                  <a:lnTo>
                    <a:pt x="107442" y="499999"/>
                  </a:lnTo>
                  <a:lnTo>
                    <a:pt x="152400" y="513461"/>
                  </a:lnTo>
                  <a:lnTo>
                    <a:pt x="204216" y="517906"/>
                  </a:lnTo>
                  <a:lnTo>
                    <a:pt x="257937" y="513334"/>
                  </a:lnTo>
                  <a:lnTo>
                    <a:pt x="304546" y="499491"/>
                  </a:lnTo>
                  <a:lnTo>
                    <a:pt x="343662" y="476123"/>
                  </a:lnTo>
                  <a:lnTo>
                    <a:pt x="374904" y="443230"/>
                  </a:lnTo>
                  <a:lnTo>
                    <a:pt x="397764" y="400685"/>
                  </a:lnTo>
                  <a:lnTo>
                    <a:pt x="411861" y="348234"/>
                  </a:lnTo>
                  <a:lnTo>
                    <a:pt x="416687" y="285877"/>
                  </a:lnTo>
                  <a:lnTo>
                    <a:pt x="41668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7587398" y="9496187"/>
            <a:ext cx="303095" cy="395097"/>
          </a:xfrm>
          <a:custGeom>
            <a:avLst/>
            <a:gdLst/>
            <a:ahLst/>
            <a:cxnLst/>
            <a:rect r="r" b="b" t="t" l="l"/>
            <a:pathLst>
              <a:path h="395097" w="303095">
                <a:moveTo>
                  <a:pt x="0" y="0"/>
                </a:moveTo>
                <a:lnTo>
                  <a:pt x="303095" y="0"/>
                </a:lnTo>
                <a:lnTo>
                  <a:pt x="303095" y="395097"/>
                </a:lnTo>
                <a:lnTo>
                  <a:pt x="0" y="39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856041" y="9409814"/>
            <a:ext cx="90116" cy="90107"/>
            <a:chOff x="0" y="0"/>
            <a:chExt cx="120155" cy="1201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142" cy="120142"/>
            </a:xfrm>
            <a:custGeom>
              <a:avLst/>
              <a:gdLst/>
              <a:ahLst/>
              <a:cxnLst/>
              <a:rect r="r" b="b" t="t" l="l"/>
              <a:pathLst>
                <a:path h="120142" w="120142">
                  <a:moveTo>
                    <a:pt x="0" y="0"/>
                  </a:moveTo>
                  <a:lnTo>
                    <a:pt x="120142" y="0"/>
                  </a:lnTo>
                  <a:lnTo>
                    <a:pt x="1201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-10" b="-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857718" y="635422"/>
            <a:ext cx="7192280" cy="632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8"/>
              </a:lnSpc>
            </a:pPr>
            <a:r>
              <a:rPr lang="en-US" sz="2850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Evidencias e Indicadores de Calidad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23458" y="1609204"/>
            <a:ext cx="10803532" cy="716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Evidencias tangibles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Repositorio Git con historial completo de migraciones y commits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Diagramas UML/ERD: casos de uso, entidad-relación, secuencia y máquina de estados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Documentos de decisión de arquitectura (ADR), uno por decisión relevante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Suite de más de 200 pruebas automatizadas: unitarias, basadas en propiedades y de contrato contra el catálogo real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Scripts de verificación de seguridad y de despliegue, ejecutables de forma repetible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779"/>
              </a:lnSpc>
            </a:pPr>
            <a:r>
              <a:rPr lang="en-US" sz="3149" b="true">
                <a:solidFill>
                  <a:srgbClr val="1F3A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Indicadores de calidad elegidos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Pruebas: cobertura por capa del motor, con énfasis en pruebas basadas en propiedades para el filtro estadístico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Modelos de datos: seguridad a nivel de fila verificada en ambas direcciones antes de cada avance de fase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•  Software: separación de privilegio entre cliente y servicio, sin excepciones sin documentar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45768" y="3198143"/>
            <a:ext cx="5996464" cy="1945357"/>
            <a:chOff x="0" y="0"/>
            <a:chExt cx="7995285" cy="2593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95285" cy="2593848"/>
            </a:xfrm>
            <a:custGeom>
              <a:avLst/>
              <a:gdLst/>
              <a:ahLst/>
              <a:cxnLst/>
              <a:rect r="r" b="b" t="t" l="l"/>
              <a:pathLst>
                <a:path h="2593848" w="7995285">
                  <a:moveTo>
                    <a:pt x="0" y="0"/>
                  </a:moveTo>
                  <a:lnTo>
                    <a:pt x="7995285" y="0"/>
                  </a:lnTo>
                  <a:lnTo>
                    <a:pt x="7995285" y="2593848"/>
                  </a:lnTo>
                  <a:lnTo>
                    <a:pt x="0" y="2593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" r="0" b="-5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5813523"/>
            <a:ext cx="16230600" cy="8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DAHUGffZKwI</dc:identifier>
  <dcterms:modified xsi:type="dcterms:W3CDTF">2011-08-01T06:04:30Z</dcterms:modified>
  <cp:revision>1</cp:revision>
  <dc:title>RID_Presentacion_Fase1.pptx</dc:title>
</cp:coreProperties>
</file>