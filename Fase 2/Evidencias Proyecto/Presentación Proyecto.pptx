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 Bold" charset="1" panose="020F0702030404030204"/>
      <p:regular r:id="rId22"/>
    </p:embeddedFont>
    <p:embeddedFont>
      <p:font typeface="Calibri (MS)" charset="1" panose="020F05020202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35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Presenta: Fernando. Abrir con el propósito: RID es una app móvil de entrenamiento de fuerza donde un motor probabilístico prescribe la carga; el usuario nunca decide cuánto peso levantar. Anunciar el reparto: Fernando cubre contexto, arquitectura y cierre; Bastián, ajustes de interfaz y cliente móvil; Favio, pruebas, monitoreo y plan de acción.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Presenta: Fernando. El backend y el motor están desplegados y probados: migraciones 001 a 015, 51 casos de seguridad a nivel de fila cruzados entre usuarios y 266 pruebas del motor. El diseño cerró 68 pantallas. La brecha real está en la captura del dispositivo: registrar series, reconocimiento por voz y operación sin conexión. Eso explica los retrasos que veremos en el monitoreo.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Presenta: Fernando. Metodología híbrida basada en RUP con iteraciones semanales a lo largo de 16 semanas, del 13 de agosto al 27 de noviembre. Cuatro prácticas la hacen verificable: ADR antes de implementar, la regla de que el servidor prescribe, las pruebas como criterio de cierre y el seguimiento con Gantt y backlog.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Presenta: Fernando. H1 a H3 se cumplieron en fecha con evidencia: requisitos priorizados, arquitectura y modelo de datos, y el motor con sus pruebas. H4 quedó parcial porque la parte del cliente de la sincronización local-first no está operativa. H5, el MVP instalable del 19 de octubre, está en riesgo por lo mismo.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Presenta: Bastián. Primer ajuste: la dirección de producto cambió la identidad visual; los colores solo se declaran en tokens.css y los contrastes se calcularon con WCAG 2.1. Segundo: al llegar a 68 pantallas con estado de entrenamiento y almacenamiento local, Astro solo añadía una capa; migramos a Vite + Preact con Capacitor 8 y pospusimos Kotlin Multiplatform por el costo y el plazo. Tercero: la recuperación de contraseña por código, que sigue pendiente de aprobación.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Presenta: Bastián. Cuatro aprendizajes concretos. Voz: dos vías posibles, el fork de capgo o un plugin propio en Kotlin; se decide con una prueba en dispositivo físico. Sesión del día: el cliente no decide qué sesión toca porque eso sería prescribir; hoy la persona elige. Integración: un CORS y una vista sin security_invoker, ambos corregidos. Prototipos: el alcance creció, pero el diseño cerrado acelera la programación.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Presenta: Fernando. Competencias de modelos de datos y de software: el esquema PostgreSQL con RLS y el catálogo de 470 ejercicios, el motor desplegado como función de borde y el cliente por capas que no calcula cargas ni e1RM. La integración está verificada: el plan prescrito por el servidor aparece en la pantalla de sesión. Pendiente: instalación en dispositivo físico y publicación en Google Play.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Presenta: Favio. Competencia de gestión de proyectos: el cronograma en Microsoft Project con predecesoras e hitos, el backlog en Zoho y los ADR que dejan trazabilidad de cada cambio de rumbo. El monitoreo que sigue es el control. Y un compromiso: revisar el historial de Git para que el aporte de cada integrante quede visible.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Presenta: Favio. De las 24 actividades del cronograma, 7 están completadas, 1 ajustada, 2 en curso, 3 con retraso y 8 no iniciadas; tres actividades quedan por confirmar. Los retrasos se concentran en la captura de datos del dispositivo y condicionan el hito H5. La tabla completa está en el informe.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Presenta: Favio, con Bastián en las filas de frontend. Cada retraso tiene acción, responsable por rol y fecha apoyada en los hitos del Gantt. Prioridad: cerrar el registro de series y la prueba de voz en dispositivo físico antes del 19 de octubre; los contratos del servidor y las pruebas antes del 26.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Presenta: Favio y Bastián. Facilitadores: tener el backend listo, decidir con ADR, reutilizar los tokens en los prototipos y compartir los contratos TypeScript. Dificultades: el plugin de voz, los contratos de servidor que faltan, los cambios de rumbo a mitad de la integración y datos de prueba creados a mano.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Presenta: Fernando. El cronograma se sostiene si H5 se cierra: de ahí dependen la validación técnica del 26 de octubre, la beta cerrada y las suscripciones. Antes de programar la pasarela hay que cerrar el ADR de pagos e inicio de sesión con Google. Nota: el Gantt situaba el informe de avance el 30 de octubre; esta entrega se adelantó.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Presentan: Fernando, con cierre de Bastián y Favio. Resumen en una frase: la base técnica está sólida y probada; el trabajo que falta es de captura en el dispositivo, y tiene responsable y fecha. Abrir a preguntas.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Relationship Id="rId5" Target="../media/VAHYGFpI2Aw.mp4" Type="http://schemas.openxmlformats.org/officeDocument/2006/relationships/video"/><Relationship Id="rId6" Target="../media/VAHYGFpI2Aw.mp4" Type="http://schemas.microsoft.com/office/2007/relationships/media"/><Relationship Id="rId7" Target="../media/image7.jpeg" Type="http://schemas.openxmlformats.org/officeDocument/2006/relationships/image"/><Relationship Id="rId8" Target="../media/VAHYGHtx6QA.mp4" Type="http://schemas.openxmlformats.org/officeDocument/2006/relationships/video"/><Relationship Id="rId9" Target="../media/VAHYGHtx6QA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2600325"/>
            <a:ext cx="11247120" cy="274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Informe de avance del Proyecto APT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7280" y="5486400"/>
            <a:ext cx="10698480" cy="822960"/>
            <a:chOff x="0" y="0"/>
            <a:chExt cx="14264640" cy="10972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646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142646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6C9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RID — RepInDepth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97280" y="6377940"/>
            <a:ext cx="10698480" cy="685800"/>
            <a:chOff x="0" y="0"/>
            <a:chExt cx="1426464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64639" cy="914400"/>
            </a:xfrm>
            <a:custGeom>
              <a:avLst/>
              <a:gdLst/>
              <a:ahLst/>
              <a:cxnLst/>
              <a:rect r="r" b="b" t="t" l="l"/>
              <a:pathLst>
                <a:path h="91440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966" r="0" b="-25396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426464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Capstone PTY4614 · Evaluación Fase 2 · 15 de octubre de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8641080"/>
            <a:ext cx="15087600" cy="685800"/>
            <a:chOff x="0" y="0"/>
            <a:chExt cx="201168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0116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AFA3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Fernando Almonacid · Bastián Berríos · Favio Pérez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8211" y="548640"/>
            <a:ext cx="8321014" cy="1371600"/>
            <a:chOff x="0" y="0"/>
            <a:chExt cx="11094685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94686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094686">
                  <a:moveTo>
                    <a:pt x="0" y="0"/>
                  </a:moveTo>
                  <a:lnTo>
                    <a:pt x="11094686" y="0"/>
                  </a:lnTo>
                  <a:lnTo>
                    <a:pt x="11094686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768" r="-99451" b="-1857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1094685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verificado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459355"/>
            <a:ext cx="1969459" cy="3996690"/>
            <a:chOff x="0" y="0"/>
            <a:chExt cx="2625946" cy="5328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25946" cy="5328920"/>
            </a:xfrm>
            <a:custGeom>
              <a:avLst/>
              <a:gdLst/>
              <a:ahLst/>
              <a:cxnLst/>
              <a:rect r="r" b="b" t="t" l="l"/>
              <a:pathLst>
                <a:path h="5328920" w="2625946">
                  <a:moveTo>
                    <a:pt x="0" y="220599"/>
                  </a:moveTo>
                  <a:cubicBezTo>
                    <a:pt x="0" y="98806"/>
                    <a:pt x="49539" y="0"/>
                    <a:pt x="110603" y="0"/>
                  </a:cubicBezTo>
                  <a:lnTo>
                    <a:pt x="2515343" y="0"/>
                  </a:lnTo>
                  <a:cubicBezTo>
                    <a:pt x="2576407" y="0"/>
                    <a:pt x="2625946" y="98806"/>
                    <a:pt x="2625946" y="220599"/>
                  </a:cubicBezTo>
                  <a:lnTo>
                    <a:pt x="2625946" y="5108321"/>
                  </a:lnTo>
                  <a:cubicBezTo>
                    <a:pt x="2625946" y="5230114"/>
                    <a:pt x="2576407" y="5328920"/>
                    <a:pt x="2515343" y="5328920"/>
                  </a:cubicBezTo>
                  <a:lnTo>
                    <a:pt x="110603" y="5328920"/>
                  </a:lnTo>
                  <a:cubicBezTo>
                    <a:pt x="49539" y="5328920"/>
                    <a:pt x="0" y="5230114"/>
                    <a:pt x="0" y="5108321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55748" y="2638233"/>
            <a:ext cx="1684833" cy="1993013"/>
            <a:chOff x="0" y="0"/>
            <a:chExt cx="2246444" cy="26573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6444" cy="2657351"/>
            </a:xfrm>
            <a:custGeom>
              <a:avLst/>
              <a:gdLst/>
              <a:ahLst/>
              <a:cxnLst/>
              <a:rect r="r" b="b" t="t" l="l"/>
              <a:pathLst>
                <a:path h="2657351" w="2246444">
                  <a:moveTo>
                    <a:pt x="0" y="0"/>
                  </a:moveTo>
                  <a:lnTo>
                    <a:pt x="2246444" y="0"/>
                  </a:lnTo>
                  <a:lnTo>
                    <a:pt x="2246444" y="2657351"/>
                  </a:lnTo>
                  <a:lnTo>
                    <a:pt x="0" y="2657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059" t="0" r="-135510" b="1053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09550"/>
              <a:ext cx="2246444" cy="2866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80"/>
                </a:lnSpc>
              </a:pPr>
              <a:r>
                <a:rPr lang="en-US" sz="9900" b="true">
                  <a:solidFill>
                    <a:srgbClr val="6B4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31511" y="2459355"/>
            <a:ext cx="1969459" cy="3996690"/>
            <a:chOff x="0" y="0"/>
            <a:chExt cx="2625946" cy="5328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25946" cy="5328920"/>
            </a:xfrm>
            <a:custGeom>
              <a:avLst/>
              <a:gdLst/>
              <a:ahLst/>
              <a:cxnLst/>
              <a:rect r="r" b="b" t="t" l="l"/>
              <a:pathLst>
                <a:path h="5328920" w="2625946">
                  <a:moveTo>
                    <a:pt x="0" y="220599"/>
                  </a:moveTo>
                  <a:cubicBezTo>
                    <a:pt x="0" y="98806"/>
                    <a:pt x="49539" y="0"/>
                    <a:pt x="110603" y="0"/>
                  </a:cubicBezTo>
                  <a:lnTo>
                    <a:pt x="2515343" y="0"/>
                  </a:lnTo>
                  <a:cubicBezTo>
                    <a:pt x="2576407" y="0"/>
                    <a:pt x="2625946" y="98806"/>
                    <a:pt x="2625946" y="220599"/>
                  </a:cubicBezTo>
                  <a:lnTo>
                    <a:pt x="2625946" y="5108321"/>
                  </a:lnTo>
                  <a:cubicBezTo>
                    <a:pt x="2625946" y="5230114"/>
                    <a:pt x="2576407" y="5328920"/>
                    <a:pt x="2515343" y="5328920"/>
                  </a:cubicBezTo>
                  <a:lnTo>
                    <a:pt x="110603" y="5328920"/>
                  </a:lnTo>
                  <a:cubicBezTo>
                    <a:pt x="49539" y="5328920"/>
                    <a:pt x="0" y="5230114"/>
                    <a:pt x="0" y="5108321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073824" y="2638233"/>
            <a:ext cx="1684833" cy="1993013"/>
            <a:chOff x="0" y="0"/>
            <a:chExt cx="2246444" cy="26573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6444" cy="2657351"/>
            </a:xfrm>
            <a:custGeom>
              <a:avLst/>
              <a:gdLst/>
              <a:ahLst/>
              <a:cxnLst/>
              <a:rect r="r" b="b" t="t" l="l"/>
              <a:pathLst>
                <a:path h="2657351" w="2246444">
                  <a:moveTo>
                    <a:pt x="0" y="0"/>
                  </a:moveTo>
                  <a:lnTo>
                    <a:pt x="2246444" y="0"/>
                  </a:lnTo>
                  <a:lnTo>
                    <a:pt x="2246444" y="2657351"/>
                  </a:lnTo>
                  <a:lnTo>
                    <a:pt x="0" y="2657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059" t="0" r="-135510" b="1053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09550"/>
              <a:ext cx="2246444" cy="2866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80"/>
                </a:lnSpc>
              </a:pPr>
              <a:r>
                <a:rPr lang="en-US" sz="9900" b="true">
                  <a:solidFill>
                    <a:srgbClr val="6B4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49587" y="2459355"/>
            <a:ext cx="1969459" cy="3996690"/>
            <a:chOff x="0" y="0"/>
            <a:chExt cx="2625946" cy="5328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25946" cy="5328920"/>
            </a:xfrm>
            <a:custGeom>
              <a:avLst/>
              <a:gdLst/>
              <a:ahLst/>
              <a:cxnLst/>
              <a:rect r="r" b="b" t="t" l="l"/>
              <a:pathLst>
                <a:path h="5328920" w="2625946">
                  <a:moveTo>
                    <a:pt x="0" y="220599"/>
                  </a:moveTo>
                  <a:cubicBezTo>
                    <a:pt x="0" y="98806"/>
                    <a:pt x="49539" y="0"/>
                    <a:pt x="110603" y="0"/>
                  </a:cubicBezTo>
                  <a:lnTo>
                    <a:pt x="2515343" y="0"/>
                  </a:lnTo>
                  <a:cubicBezTo>
                    <a:pt x="2576407" y="0"/>
                    <a:pt x="2625946" y="98806"/>
                    <a:pt x="2625946" y="220599"/>
                  </a:cubicBezTo>
                  <a:lnTo>
                    <a:pt x="2625946" y="5108321"/>
                  </a:lnTo>
                  <a:cubicBezTo>
                    <a:pt x="2625946" y="5230114"/>
                    <a:pt x="2576407" y="5328920"/>
                    <a:pt x="2515343" y="5328920"/>
                  </a:cubicBezTo>
                  <a:lnTo>
                    <a:pt x="110603" y="5328920"/>
                  </a:lnTo>
                  <a:cubicBezTo>
                    <a:pt x="49539" y="5328920"/>
                    <a:pt x="0" y="5230114"/>
                    <a:pt x="0" y="5108321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191900" y="2638233"/>
            <a:ext cx="1684833" cy="1993013"/>
            <a:chOff x="0" y="0"/>
            <a:chExt cx="2246444" cy="2657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6444" cy="2657351"/>
            </a:xfrm>
            <a:custGeom>
              <a:avLst/>
              <a:gdLst/>
              <a:ahLst/>
              <a:cxnLst/>
              <a:rect r="r" b="b" t="t" l="l"/>
              <a:pathLst>
                <a:path h="2657351" w="2246444">
                  <a:moveTo>
                    <a:pt x="0" y="0"/>
                  </a:moveTo>
                  <a:lnTo>
                    <a:pt x="2246444" y="0"/>
                  </a:lnTo>
                  <a:lnTo>
                    <a:pt x="2246444" y="2657351"/>
                  </a:lnTo>
                  <a:lnTo>
                    <a:pt x="0" y="2657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059" t="0" r="-135510" b="105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09550"/>
              <a:ext cx="2246444" cy="2866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80"/>
                </a:lnSpc>
              </a:pPr>
              <a:r>
                <a:rPr lang="en-US" sz="9900" b="true">
                  <a:solidFill>
                    <a:srgbClr val="6B4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67664" y="2459355"/>
            <a:ext cx="2144642" cy="3996690"/>
            <a:chOff x="0" y="0"/>
            <a:chExt cx="2859523" cy="5328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59523" cy="5328920"/>
            </a:xfrm>
            <a:custGeom>
              <a:avLst/>
              <a:gdLst/>
              <a:ahLst/>
              <a:cxnLst/>
              <a:rect r="r" b="b" t="t" l="l"/>
              <a:pathLst>
                <a:path h="5328920" w="2859523">
                  <a:moveTo>
                    <a:pt x="0" y="220599"/>
                  </a:moveTo>
                  <a:cubicBezTo>
                    <a:pt x="0" y="98806"/>
                    <a:pt x="53945" y="0"/>
                    <a:pt x="120441" y="0"/>
                  </a:cubicBezTo>
                  <a:lnTo>
                    <a:pt x="2739082" y="0"/>
                  </a:lnTo>
                  <a:cubicBezTo>
                    <a:pt x="2805578" y="0"/>
                    <a:pt x="2859523" y="98806"/>
                    <a:pt x="2859523" y="220599"/>
                  </a:cubicBezTo>
                  <a:lnTo>
                    <a:pt x="2859523" y="5108321"/>
                  </a:lnTo>
                  <a:cubicBezTo>
                    <a:pt x="2859523" y="5230114"/>
                    <a:pt x="2805578" y="5328920"/>
                    <a:pt x="2739082" y="5328920"/>
                  </a:cubicBezTo>
                  <a:lnTo>
                    <a:pt x="120441" y="5328920"/>
                  </a:lnTo>
                  <a:cubicBezTo>
                    <a:pt x="53945" y="5328920"/>
                    <a:pt x="0" y="5230114"/>
                    <a:pt x="0" y="5108321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240993" y="2670427"/>
            <a:ext cx="1997984" cy="1993013"/>
            <a:chOff x="0" y="0"/>
            <a:chExt cx="2663979" cy="26573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63979" cy="2657351"/>
            </a:xfrm>
            <a:custGeom>
              <a:avLst/>
              <a:gdLst/>
              <a:ahLst/>
              <a:cxnLst/>
              <a:rect r="r" b="b" t="t" l="l"/>
              <a:pathLst>
                <a:path h="2657351" w="2663979">
                  <a:moveTo>
                    <a:pt x="0" y="0"/>
                  </a:moveTo>
                  <a:lnTo>
                    <a:pt x="2663979" y="0"/>
                  </a:lnTo>
                  <a:lnTo>
                    <a:pt x="2663979" y="2657351"/>
                  </a:lnTo>
                  <a:lnTo>
                    <a:pt x="0" y="2657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407" t="0" r="-98598" b="1053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09550"/>
              <a:ext cx="2663979" cy="2866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80"/>
                </a:lnSpc>
              </a:pPr>
              <a:r>
                <a:rPr lang="en-US" sz="9900" b="true">
                  <a:solidFill>
                    <a:srgbClr val="6B4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266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13435" y="6985635"/>
            <a:ext cx="8330565" cy="2076450"/>
            <a:chOff x="0" y="0"/>
            <a:chExt cx="11107420" cy="2768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1074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11107420">
                  <a:moveTo>
                    <a:pt x="0" y="221488"/>
                  </a:moveTo>
                  <a:cubicBezTo>
                    <a:pt x="0" y="99187"/>
                    <a:pt x="49730" y="0"/>
                    <a:pt x="111049" y="0"/>
                  </a:cubicBezTo>
                  <a:lnTo>
                    <a:pt x="10996371" y="0"/>
                  </a:lnTo>
                  <a:cubicBezTo>
                    <a:pt x="11057690" y="0"/>
                    <a:pt x="11107420" y="99187"/>
                    <a:pt x="11107420" y="221488"/>
                  </a:cubicBezTo>
                  <a:lnTo>
                    <a:pt x="11107420" y="2547112"/>
                  </a:lnTo>
                  <a:cubicBezTo>
                    <a:pt x="11107420" y="2669413"/>
                    <a:pt x="11057690" y="2768600"/>
                    <a:pt x="10996371" y="2768600"/>
                  </a:cubicBezTo>
                  <a:lnTo>
                    <a:pt x="111049" y="2768600"/>
                  </a:lnTo>
                  <a:cubicBezTo>
                    <a:pt x="49730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1B1033"/>
            </a:solidFill>
            <a:ln w="19050" cap="sq">
              <a:solidFill>
                <a:srgbClr val="1B103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24517" y="7132320"/>
            <a:ext cx="7908402" cy="1783080"/>
            <a:chOff x="0" y="0"/>
            <a:chExt cx="10544535" cy="2377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44535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544535">
                  <a:moveTo>
                    <a:pt x="0" y="0"/>
                  </a:moveTo>
                  <a:lnTo>
                    <a:pt x="10544535" y="0"/>
                  </a:lnTo>
                  <a:lnTo>
                    <a:pt x="10544535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367" r="-99451" b="-12236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10544535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6C9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Pendiente en el dispositivo: </a:t>
              </a:r>
              <a:r>
                <a:rPr lang="en-US" sz="3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 de series, voz y operación sin conexión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0619757" y="548640"/>
            <a:ext cx="6086719" cy="5227817"/>
          </a:xfrm>
          <a:custGeom>
            <a:avLst/>
            <a:gdLst/>
            <a:ahLst/>
            <a:cxnLst/>
            <a:rect r="r" b="b" t="t" l="l"/>
            <a:pathLst>
              <a:path h="5227817" w="6086719">
                <a:moveTo>
                  <a:pt x="0" y="0"/>
                </a:moveTo>
                <a:lnTo>
                  <a:pt x="6086719" y="0"/>
                </a:lnTo>
                <a:lnTo>
                  <a:pt x="6086719" y="5227817"/>
                </a:lnTo>
                <a:lnTo>
                  <a:pt x="0" y="52278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07" r="0" b="-4507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189480" y="5934746"/>
            <a:ext cx="7367817" cy="3868749"/>
          </a:xfrm>
          <a:custGeom>
            <a:avLst/>
            <a:gdLst/>
            <a:ahLst/>
            <a:cxnLst/>
            <a:rect r="r" b="b" t="t" l="l"/>
            <a:pathLst>
              <a:path h="3868749" w="7367817">
                <a:moveTo>
                  <a:pt x="0" y="0"/>
                </a:moveTo>
                <a:lnTo>
                  <a:pt x="7367818" y="0"/>
                </a:lnTo>
                <a:lnTo>
                  <a:pt x="7367818" y="3868749"/>
                </a:lnTo>
                <a:lnTo>
                  <a:pt x="0" y="38687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55748" y="4596765"/>
            <a:ext cx="1684833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pantallas diseñadas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073824" y="4596765"/>
            <a:ext cx="1684833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migraciones desplegadas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91900" y="4596765"/>
            <a:ext cx="1684833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casos RLS entre usuarios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97568" y="4560570"/>
            <a:ext cx="1684833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pruebas del motor en 10 archivos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259300" y="9765395"/>
            <a:ext cx="59599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34214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289" y="392222"/>
            <a:ext cx="10199771" cy="1684437"/>
            <a:chOff x="0" y="0"/>
            <a:chExt cx="13599694" cy="2245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99694" cy="2245916"/>
            </a:xfrm>
            <a:custGeom>
              <a:avLst/>
              <a:gdLst/>
              <a:ahLst/>
              <a:cxnLst/>
              <a:rect r="r" b="b" t="t" l="l"/>
              <a:pathLst>
                <a:path h="2245916" w="13599694">
                  <a:moveTo>
                    <a:pt x="0" y="0"/>
                  </a:moveTo>
                  <a:lnTo>
                    <a:pt x="13599694" y="0"/>
                  </a:lnTo>
                  <a:lnTo>
                    <a:pt x="13599694" y="2245916"/>
                  </a:lnTo>
                  <a:lnTo>
                    <a:pt x="0" y="22459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267" r="-62713" b="-13269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3599694" cy="2331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Metodología: RUP híbrido con iteraciones semanales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8449" y="2504928"/>
            <a:ext cx="5272759" cy="3473773"/>
            <a:chOff x="0" y="0"/>
            <a:chExt cx="6423108" cy="4231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23108" cy="4231640"/>
            </a:xfrm>
            <a:custGeom>
              <a:avLst/>
              <a:gdLst/>
              <a:ahLst/>
              <a:cxnLst/>
              <a:rect r="r" b="b" t="t" l="l"/>
              <a:pathLst>
                <a:path h="4231640" w="6423108">
                  <a:moveTo>
                    <a:pt x="0" y="220726"/>
                  </a:moveTo>
                  <a:cubicBezTo>
                    <a:pt x="0" y="98806"/>
                    <a:pt x="58680" y="0"/>
                    <a:pt x="131087" y="0"/>
                  </a:cubicBezTo>
                  <a:lnTo>
                    <a:pt x="6292021" y="0"/>
                  </a:lnTo>
                  <a:cubicBezTo>
                    <a:pt x="6364427" y="0"/>
                    <a:pt x="6423108" y="98806"/>
                    <a:pt x="6423108" y="220726"/>
                  </a:cubicBezTo>
                  <a:lnTo>
                    <a:pt x="6423108" y="4010914"/>
                  </a:lnTo>
                  <a:cubicBezTo>
                    <a:pt x="6423108" y="4132834"/>
                    <a:pt x="6364427" y="4231640"/>
                    <a:pt x="6292021" y="4231640"/>
                  </a:cubicBezTo>
                  <a:lnTo>
                    <a:pt x="131087" y="4231640"/>
                  </a:lnTo>
                  <a:cubicBezTo>
                    <a:pt x="58680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444606" y="2805715"/>
            <a:ext cx="589443" cy="1201016"/>
            <a:chOff x="0" y="0"/>
            <a:chExt cx="71804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8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18040">
                  <a:moveTo>
                    <a:pt x="0" y="731520"/>
                  </a:moveTo>
                  <a:cubicBezTo>
                    <a:pt x="0" y="327533"/>
                    <a:pt x="160749" y="0"/>
                    <a:pt x="359020" y="0"/>
                  </a:cubicBezTo>
                  <a:cubicBezTo>
                    <a:pt x="557291" y="0"/>
                    <a:pt x="718040" y="327533"/>
                    <a:pt x="718040" y="731520"/>
                  </a:cubicBezTo>
                  <a:cubicBezTo>
                    <a:pt x="718040" y="1135507"/>
                    <a:pt x="557291" y="1463040"/>
                    <a:pt x="359020" y="1463040"/>
                  </a:cubicBezTo>
                  <a:cubicBezTo>
                    <a:pt x="160749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6C945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718040" cy="1529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3706" y="2574608"/>
            <a:ext cx="3922992" cy="1382762"/>
            <a:chOff x="0" y="0"/>
            <a:chExt cx="4778865" cy="16844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78865" cy="1684437"/>
            </a:xfrm>
            <a:custGeom>
              <a:avLst/>
              <a:gdLst/>
              <a:ahLst/>
              <a:cxnLst/>
              <a:rect r="r" b="b" t="t" l="l"/>
              <a:pathLst>
                <a:path h="1684437" w="4778865">
                  <a:moveTo>
                    <a:pt x="0" y="0"/>
                  </a:moveTo>
                  <a:lnTo>
                    <a:pt x="4778865" y="0"/>
                  </a:lnTo>
                  <a:lnTo>
                    <a:pt x="4778865" y="1684437"/>
                  </a:lnTo>
                  <a:lnTo>
                    <a:pt x="0" y="1684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39" r="-68381" b="-2022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4778865" cy="1751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Decisión antes del código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46301" y="2504928"/>
            <a:ext cx="5272759" cy="3473773"/>
            <a:chOff x="0" y="0"/>
            <a:chExt cx="6423108" cy="4231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23108" cy="4231640"/>
            </a:xfrm>
            <a:custGeom>
              <a:avLst/>
              <a:gdLst/>
              <a:ahLst/>
              <a:cxnLst/>
              <a:rect r="r" b="b" t="t" l="l"/>
              <a:pathLst>
                <a:path h="4231640" w="6423108">
                  <a:moveTo>
                    <a:pt x="0" y="220726"/>
                  </a:moveTo>
                  <a:cubicBezTo>
                    <a:pt x="0" y="98806"/>
                    <a:pt x="58680" y="0"/>
                    <a:pt x="131087" y="0"/>
                  </a:cubicBezTo>
                  <a:lnTo>
                    <a:pt x="6292021" y="0"/>
                  </a:lnTo>
                  <a:cubicBezTo>
                    <a:pt x="6364427" y="0"/>
                    <a:pt x="6423108" y="98806"/>
                    <a:pt x="6423108" y="220726"/>
                  </a:cubicBezTo>
                  <a:lnTo>
                    <a:pt x="6423108" y="4010914"/>
                  </a:lnTo>
                  <a:cubicBezTo>
                    <a:pt x="6423108" y="4132834"/>
                    <a:pt x="6364427" y="4231640"/>
                    <a:pt x="6292021" y="4231640"/>
                  </a:cubicBezTo>
                  <a:lnTo>
                    <a:pt x="131087" y="4231640"/>
                  </a:lnTo>
                  <a:cubicBezTo>
                    <a:pt x="58680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019969" y="2965735"/>
            <a:ext cx="713271" cy="1201016"/>
            <a:chOff x="0" y="0"/>
            <a:chExt cx="868884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8884" cy="1463040"/>
            </a:xfrm>
            <a:custGeom>
              <a:avLst/>
              <a:gdLst/>
              <a:ahLst/>
              <a:cxnLst/>
              <a:rect r="r" b="b" t="t" l="l"/>
              <a:pathLst>
                <a:path h="1463040" w="868884">
                  <a:moveTo>
                    <a:pt x="0" y="731520"/>
                  </a:moveTo>
                  <a:cubicBezTo>
                    <a:pt x="0" y="327533"/>
                    <a:pt x="194519" y="0"/>
                    <a:pt x="434442" y="0"/>
                  </a:cubicBezTo>
                  <a:cubicBezTo>
                    <a:pt x="674366" y="0"/>
                    <a:pt x="868884" y="327533"/>
                    <a:pt x="868884" y="731520"/>
                  </a:cubicBezTo>
                  <a:cubicBezTo>
                    <a:pt x="868884" y="1135507"/>
                    <a:pt x="674366" y="1463040"/>
                    <a:pt x="434442" y="1463040"/>
                  </a:cubicBezTo>
                  <a:cubicBezTo>
                    <a:pt x="194519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6C945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868884" cy="1529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11558" y="2574608"/>
            <a:ext cx="3922992" cy="1382762"/>
            <a:chOff x="0" y="0"/>
            <a:chExt cx="4778865" cy="16844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78865" cy="1684437"/>
            </a:xfrm>
            <a:custGeom>
              <a:avLst/>
              <a:gdLst/>
              <a:ahLst/>
              <a:cxnLst/>
              <a:rect r="r" b="b" t="t" l="l"/>
              <a:pathLst>
                <a:path h="1684437" w="4778865">
                  <a:moveTo>
                    <a:pt x="0" y="0"/>
                  </a:moveTo>
                  <a:lnTo>
                    <a:pt x="4778865" y="0"/>
                  </a:lnTo>
                  <a:lnTo>
                    <a:pt x="4778865" y="1684437"/>
                  </a:lnTo>
                  <a:lnTo>
                    <a:pt x="0" y="1684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39" r="-68381" b="-2022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4778865" cy="1751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servidor prescribe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8449" y="6333167"/>
            <a:ext cx="5272759" cy="3473773"/>
            <a:chOff x="0" y="0"/>
            <a:chExt cx="6423108" cy="4231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23108" cy="4231640"/>
            </a:xfrm>
            <a:custGeom>
              <a:avLst/>
              <a:gdLst/>
              <a:ahLst/>
              <a:cxnLst/>
              <a:rect r="r" b="b" t="t" l="l"/>
              <a:pathLst>
                <a:path h="4231640" w="6423108">
                  <a:moveTo>
                    <a:pt x="0" y="220726"/>
                  </a:moveTo>
                  <a:cubicBezTo>
                    <a:pt x="0" y="98806"/>
                    <a:pt x="58680" y="0"/>
                    <a:pt x="131087" y="0"/>
                  </a:cubicBezTo>
                  <a:lnTo>
                    <a:pt x="6292021" y="0"/>
                  </a:lnTo>
                  <a:cubicBezTo>
                    <a:pt x="6364427" y="0"/>
                    <a:pt x="6423108" y="98806"/>
                    <a:pt x="6423108" y="220726"/>
                  </a:cubicBezTo>
                  <a:lnTo>
                    <a:pt x="6423108" y="4010914"/>
                  </a:lnTo>
                  <a:cubicBezTo>
                    <a:pt x="6423108" y="4132834"/>
                    <a:pt x="6364427" y="4231640"/>
                    <a:pt x="6292021" y="4231640"/>
                  </a:cubicBezTo>
                  <a:lnTo>
                    <a:pt x="131087" y="4231640"/>
                  </a:lnTo>
                  <a:cubicBezTo>
                    <a:pt x="58680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444606" y="6633954"/>
            <a:ext cx="589443" cy="1201016"/>
            <a:chOff x="0" y="0"/>
            <a:chExt cx="71804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8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18040">
                  <a:moveTo>
                    <a:pt x="0" y="731520"/>
                  </a:moveTo>
                  <a:cubicBezTo>
                    <a:pt x="0" y="327533"/>
                    <a:pt x="160749" y="0"/>
                    <a:pt x="359020" y="0"/>
                  </a:cubicBezTo>
                  <a:cubicBezTo>
                    <a:pt x="557291" y="0"/>
                    <a:pt x="718040" y="327533"/>
                    <a:pt x="718040" y="731520"/>
                  </a:cubicBezTo>
                  <a:cubicBezTo>
                    <a:pt x="718040" y="1135507"/>
                    <a:pt x="557291" y="1463040"/>
                    <a:pt x="359020" y="1463040"/>
                  </a:cubicBezTo>
                  <a:cubicBezTo>
                    <a:pt x="160749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6C945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718040" cy="1529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83706" y="6402847"/>
            <a:ext cx="3922992" cy="1382762"/>
            <a:chOff x="0" y="0"/>
            <a:chExt cx="4778865" cy="16844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78865" cy="1684437"/>
            </a:xfrm>
            <a:custGeom>
              <a:avLst/>
              <a:gdLst/>
              <a:ahLst/>
              <a:cxnLst/>
              <a:rect r="r" b="b" t="t" l="l"/>
              <a:pathLst>
                <a:path h="1684437" w="4778865">
                  <a:moveTo>
                    <a:pt x="0" y="0"/>
                  </a:moveTo>
                  <a:lnTo>
                    <a:pt x="4778865" y="0"/>
                  </a:lnTo>
                  <a:lnTo>
                    <a:pt x="4778865" y="1684437"/>
                  </a:lnTo>
                  <a:lnTo>
                    <a:pt x="0" y="1684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39" r="-68381" b="-2022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4778865" cy="1751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Pruebas como cierre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746301" y="6333167"/>
            <a:ext cx="5272759" cy="3473773"/>
            <a:chOff x="0" y="0"/>
            <a:chExt cx="6423108" cy="4231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23108" cy="4231640"/>
            </a:xfrm>
            <a:custGeom>
              <a:avLst/>
              <a:gdLst/>
              <a:ahLst/>
              <a:cxnLst/>
              <a:rect r="r" b="b" t="t" l="l"/>
              <a:pathLst>
                <a:path h="4231640" w="6423108">
                  <a:moveTo>
                    <a:pt x="0" y="220726"/>
                  </a:moveTo>
                  <a:cubicBezTo>
                    <a:pt x="0" y="98806"/>
                    <a:pt x="58680" y="0"/>
                    <a:pt x="131087" y="0"/>
                  </a:cubicBezTo>
                  <a:lnTo>
                    <a:pt x="6292021" y="0"/>
                  </a:lnTo>
                  <a:cubicBezTo>
                    <a:pt x="6364427" y="0"/>
                    <a:pt x="6423108" y="98806"/>
                    <a:pt x="6423108" y="220726"/>
                  </a:cubicBezTo>
                  <a:lnTo>
                    <a:pt x="6423108" y="4010914"/>
                  </a:lnTo>
                  <a:cubicBezTo>
                    <a:pt x="6423108" y="4132834"/>
                    <a:pt x="6364427" y="4231640"/>
                    <a:pt x="6292021" y="4231640"/>
                  </a:cubicBezTo>
                  <a:lnTo>
                    <a:pt x="131087" y="4231640"/>
                  </a:lnTo>
                  <a:cubicBezTo>
                    <a:pt x="58680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019969" y="6793974"/>
            <a:ext cx="713271" cy="1201016"/>
            <a:chOff x="0" y="0"/>
            <a:chExt cx="868884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8884" cy="1463040"/>
            </a:xfrm>
            <a:custGeom>
              <a:avLst/>
              <a:gdLst/>
              <a:ahLst/>
              <a:cxnLst/>
              <a:rect r="r" b="b" t="t" l="l"/>
              <a:pathLst>
                <a:path h="1463040" w="868884">
                  <a:moveTo>
                    <a:pt x="0" y="731520"/>
                  </a:moveTo>
                  <a:cubicBezTo>
                    <a:pt x="0" y="327533"/>
                    <a:pt x="194519" y="0"/>
                    <a:pt x="434442" y="0"/>
                  </a:cubicBezTo>
                  <a:cubicBezTo>
                    <a:pt x="674366" y="0"/>
                    <a:pt x="868884" y="327533"/>
                    <a:pt x="868884" y="731520"/>
                  </a:cubicBezTo>
                  <a:cubicBezTo>
                    <a:pt x="868884" y="1135507"/>
                    <a:pt x="674366" y="1463040"/>
                    <a:pt x="434442" y="1463040"/>
                  </a:cubicBezTo>
                  <a:cubicBezTo>
                    <a:pt x="194519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6C945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868884" cy="1529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11558" y="6402847"/>
            <a:ext cx="3922992" cy="1382762"/>
            <a:chOff x="0" y="0"/>
            <a:chExt cx="4778865" cy="168443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78865" cy="1684437"/>
            </a:xfrm>
            <a:custGeom>
              <a:avLst/>
              <a:gdLst/>
              <a:ahLst/>
              <a:cxnLst/>
              <a:rect r="r" b="b" t="t" l="l"/>
              <a:pathLst>
                <a:path h="1684437" w="4778865">
                  <a:moveTo>
                    <a:pt x="0" y="0"/>
                  </a:moveTo>
                  <a:lnTo>
                    <a:pt x="4778865" y="0"/>
                  </a:lnTo>
                  <a:lnTo>
                    <a:pt x="4778865" y="1684437"/>
                  </a:lnTo>
                  <a:lnTo>
                    <a:pt x="0" y="1684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39" r="-68381" b="-2022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4778865" cy="1751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Seguimiento sistemático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1161935" y="198851"/>
            <a:ext cx="7110147" cy="4011355"/>
          </a:xfrm>
          <a:custGeom>
            <a:avLst/>
            <a:gdLst/>
            <a:ahLst/>
            <a:cxnLst/>
            <a:rect r="r" b="b" t="t" l="l"/>
            <a:pathLst>
              <a:path h="4011355" w="7110147">
                <a:moveTo>
                  <a:pt x="0" y="0"/>
                </a:moveTo>
                <a:lnTo>
                  <a:pt x="7110147" y="0"/>
                </a:lnTo>
                <a:lnTo>
                  <a:pt x="7110147" y="4011354"/>
                </a:lnTo>
                <a:lnTo>
                  <a:pt x="0" y="4011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8682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383706" y="3724758"/>
            <a:ext cx="3922992" cy="2068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3283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Cada decisión mayor es un ADR con alternativas y consecuencias.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911558" y="3724758"/>
            <a:ext cx="3922992" cy="156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3283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El móvil captura, sincroniza y consulta. Sin datos de muestra.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83706" y="7552998"/>
            <a:ext cx="3922992" cy="156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3283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RLS cruzado, suite del motor, pruebas del cliente y emulador.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911558" y="7552998"/>
            <a:ext cx="3922992" cy="2068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3283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Gantt de 24 actividades y 10 hitos; backlog de 40 tareas en Zoho.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139160" y="9608820"/>
            <a:ext cx="11887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34214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1111" y="228452"/>
            <a:ext cx="14052322" cy="1600495"/>
            <a:chOff x="0" y="0"/>
            <a:chExt cx="16056835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56835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056835">
                  <a:moveTo>
                    <a:pt x="0" y="0"/>
                  </a:moveTo>
                  <a:lnTo>
                    <a:pt x="16056835" y="0"/>
                  </a:lnTo>
                  <a:lnTo>
                    <a:pt x="16056835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768" r="-37813" b="-1857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6056835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Hitos: tres cumplidos, uno parcial, uno en riesgo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499374" y="3303361"/>
            <a:ext cx="13072704" cy="88818"/>
          </a:xfrm>
          <a:prstGeom prst="line">
            <a:avLst/>
          </a:prstGeom>
          <a:ln cap="rnd" w="47625">
            <a:solidFill>
              <a:srgbClr val="AFA3C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301111" y="1659304"/>
            <a:ext cx="2532676" cy="816141"/>
            <a:chOff x="0" y="0"/>
            <a:chExt cx="2893953" cy="932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93953" cy="932560"/>
            </a:xfrm>
            <a:custGeom>
              <a:avLst/>
              <a:gdLst/>
              <a:ahLst/>
              <a:cxnLst/>
              <a:rect r="r" b="b" t="t" l="l"/>
              <a:pathLst>
                <a:path h="932560" w="2893953">
                  <a:moveTo>
                    <a:pt x="0" y="0"/>
                  </a:moveTo>
                  <a:lnTo>
                    <a:pt x="2893953" y="0"/>
                  </a:lnTo>
                  <a:lnTo>
                    <a:pt x="2893953" y="932560"/>
                  </a:lnTo>
                  <a:lnTo>
                    <a:pt x="0" y="932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38" r="-39026" b="-3309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893953" cy="999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H1 · 21-ago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5661" y="2914303"/>
            <a:ext cx="623575" cy="866935"/>
            <a:chOff x="0" y="0"/>
            <a:chExt cx="712526" cy="990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2526" cy="990600"/>
            </a:xfrm>
            <a:custGeom>
              <a:avLst/>
              <a:gdLst/>
              <a:ahLst/>
              <a:cxnLst/>
              <a:rect r="r" b="b" t="t" l="l"/>
              <a:pathLst>
                <a:path h="990600" w="712526">
                  <a:moveTo>
                    <a:pt x="0" y="495300"/>
                  </a:moveTo>
                  <a:cubicBezTo>
                    <a:pt x="0" y="221742"/>
                    <a:pt x="159496" y="0"/>
                    <a:pt x="356263" y="0"/>
                  </a:cubicBezTo>
                  <a:cubicBezTo>
                    <a:pt x="553030" y="0"/>
                    <a:pt x="712526" y="221742"/>
                    <a:pt x="712526" y="495300"/>
                  </a:cubicBezTo>
                  <a:cubicBezTo>
                    <a:pt x="712526" y="768858"/>
                    <a:pt x="553030" y="990600"/>
                    <a:pt x="356263" y="990600"/>
                  </a:cubicBezTo>
                  <a:cubicBezTo>
                    <a:pt x="159496" y="990600"/>
                    <a:pt x="0" y="768858"/>
                    <a:pt x="0" y="495300"/>
                  </a:cubicBezTo>
                  <a:close/>
                </a:path>
              </a:pathLst>
            </a:custGeom>
            <a:solidFill>
              <a:srgbClr val="1B6B3A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88915" y="6308686"/>
            <a:ext cx="1957068" cy="800248"/>
            <a:chOff x="0" y="0"/>
            <a:chExt cx="2236236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6236" cy="914400"/>
            </a:xfrm>
            <a:custGeom>
              <a:avLst/>
              <a:gdLst/>
              <a:ahLst/>
              <a:cxnLst/>
              <a:rect r="r" b="b" t="t" l="l"/>
              <a:pathLst>
                <a:path h="914400" w="2236236">
                  <a:moveTo>
                    <a:pt x="0" y="365760"/>
                  </a:moveTo>
                  <a:cubicBezTo>
                    <a:pt x="0" y="163703"/>
                    <a:pt x="117750" y="0"/>
                    <a:pt x="263087" y="0"/>
                  </a:cubicBezTo>
                  <a:lnTo>
                    <a:pt x="1973150" y="0"/>
                  </a:lnTo>
                  <a:cubicBezTo>
                    <a:pt x="2118487" y="0"/>
                    <a:pt x="2236236" y="163703"/>
                    <a:pt x="2236236" y="365760"/>
                  </a:cubicBezTo>
                  <a:lnTo>
                    <a:pt x="2236236" y="548640"/>
                  </a:lnTo>
                  <a:cubicBezTo>
                    <a:pt x="2236236" y="750697"/>
                    <a:pt x="2118487" y="914400"/>
                    <a:pt x="1973150" y="914400"/>
                  </a:cubicBezTo>
                  <a:lnTo>
                    <a:pt x="263087" y="914400"/>
                  </a:lnTo>
                  <a:cubicBezTo>
                    <a:pt x="117750" y="914400"/>
                    <a:pt x="0" y="750697"/>
                    <a:pt x="0" y="548640"/>
                  </a:cubicBezTo>
                  <a:close/>
                </a:path>
              </a:pathLst>
            </a:custGeom>
            <a:solidFill>
              <a:srgbClr val="1B6B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36236" cy="971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Cumplido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64030" y="1659304"/>
            <a:ext cx="2532676" cy="816141"/>
            <a:chOff x="0" y="0"/>
            <a:chExt cx="2893953" cy="932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93953" cy="932560"/>
            </a:xfrm>
            <a:custGeom>
              <a:avLst/>
              <a:gdLst/>
              <a:ahLst/>
              <a:cxnLst/>
              <a:rect r="r" b="b" t="t" l="l"/>
              <a:pathLst>
                <a:path h="932560" w="2893953">
                  <a:moveTo>
                    <a:pt x="0" y="0"/>
                  </a:moveTo>
                  <a:lnTo>
                    <a:pt x="2893953" y="0"/>
                  </a:lnTo>
                  <a:lnTo>
                    <a:pt x="2893953" y="932560"/>
                  </a:lnTo>
                  <a:lnTo>
                    <a:pt x="0" y="932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38" r="-39026" b="-330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893953" cy="999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H2 · 31-ago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18580" y="2914303"/>
            <a:ext cx="623575" cy="866935"/>
            <a:chOff x="0" y="0"/>
            <a:chExt cx="712526" cy="990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2526" cy="990600"/>
            </a:xfrm>
            <a:custGeom>
              <a:avLst/>
              <a:gdLst/>
              <a:ahLst/>
              <a:cxnLst/>
              <a:rect r="r" b="b" t="t" l="l"/>
              <a:pathLst>
                <a:path h="990600" w="712526">
                  <a:moveTo>
                    <a:pt x="0" y="495300"/>
                  </a:moveTo>
                  <a:cubicBezTo>
                    <a:pt x="0" y="221742"/>
                    <a:pt x="159496" y="0"/>
                    <a:pt x="356263" y="0"/>
                  </a:cubicBezTo>
                  <a:cubicBezTo>
                    <a:pt x="553030" y="0"/>
                    <a:pt x="712526" y="221742"/>
                    <a:pt x="712526" y="495300"/>
                  </a:cubicBezTo>
                  <a:cubicBezTo>
                    <a:pt x="712526" y="768858"/>
                    <a:pt x="553030" y="990600"/>
                    <a:pt x="356263" y="990600"/>
                  </a:cubicBezTo>
                  <a:cubicBezTo>
                    <a:pt x="159496" y="990600"/>
                    <a:pt x="0" y="768858"/>
                    <a:pt x="0" y="495300"/>
                  </a:cubicBezTo>
                  <a:close/>
                </a:path>
              </a:pathLst>
            </a:custGeom>
            <a:solidFill>
              <a:srgbClr val="1B6B3A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3351834" y="6308686"/>
            <a:ext cx="1957068" cy="800248"/>
            <a:chOff x="0" y="0"/>
            <a:chExt cx="2236236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36236" cy="914400"/>
            </a:xfrm>
            <a:custGeom>
              <a:avLst/>
              <a:gdLst/>
              <a:ahLst/>
              <a:cxnLst/>
              <a:rect r="r" b="b" t="t" l="l"/>
              <a:pathLst>
                <a:path h="914400" w="2236236">
                  <a:moveTo>
                    <a:pt x="0" y="365760"/>
                  </a:moveTo>
                  <a:cubicBezTo>
                    <a:pt x="0" y="163703"/>
                    <a:pt x="117750" y="0"/>
                    <a:pt x="263087" y="0"/>
                  </a:cubicBezTo>
                  <a:lnTo>
                    <a:pt x="1973150" y="0"/>
                  </a:lnTo>
                  <a:cubicBezTo>
                    <a:pt x="2118487" y="0"/>
                    <a:pt x="2236236" y="163703"/>
                    <a:pt x="2236236" y="365760"/>
                  </a:cubicBezTo>
                  <a:lnTo>
                    <a:pt x="2236236" y="548640"/>
                  </a:lnTo>
                  <a:cubicBezTo>
                    <a:pt x="2236236" y="750697"/>
                    <a:pt x="2118487" y="914400"/>
                    <a:pt x="1973150" y="914400"/>
                  </a:cubicBezTo>
                  <a:lnTo>
                    <a:pt x="263087" y="914400"/>
                  </a:lnTo>
                  <a:cubicBezTo>
                    <a:pt x="117750" y="914400"/>
                    <a:pt x="0" y="750697"/>
                    <a:pt x="0" y="548640"/>
                  </a:cubicBezTo>
                  <a:close/>
                </a:path>
              </a:pathLst>
            </a:custGeom>
            <a:solidFill>
              <a:srgbClr val="1B6B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236236" cy="971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Cumplido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826949" y="1659304"/>
            <a:ext cx="2532676" cy="816141"/>
            <a:chOff x="0" y="0"/>
            <a:chExt cx="2893953" cy="932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93953" cy="932560"/>
            </a:xfrm>
            <a:custGeom>
              <a:avLst/>
              <a:gdLst/>
              <a:ahLst/>
              <a:cxnLst/>
              <a:rect r="r" b="b" t="t" l="l"/>
              <a:pathLst>
                <a:path h="932560" w="2893953">
                  <a:moveTo>
                    <a:pt x="0" y="0"/>
                  </a:moveTo>
                  <a:lnTo>
                    <a:pt x="2893953" y="0"/>
                  </a:lnTo>
                  <a:lnTo>
                    <a:pt x="2893953" y="932560"/>
                  </a:lnTo>
                  <a:lnTo>
                    <a:pt x="0" y="932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38" r="-39026" b="-3309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2893953" cy="999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H3 · 22-sep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81499" y="2914303"/>
            <a:ext cx="623575" cy="866935"/>
            <a:chOff x="0" y="0"/>
            <a:chExt cx="712526" cy="990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2526" cy="990600"/>
            </a:xfrm>
            <a:custGeom>
              <a:avLst/>
              <a:gdLst/>
              <a:ahLst/>
              <a:cxnLst/>
              <a:rect r="r" b="b" t="t" l="l"/>
              <a:pathLst>
                <a:path h="990600" w="712526">
                  <a:moveTo>
                    <a:pt x="0" y="495300"/>
                  </a:moveTo>
                  <a:cubicBezTo>
                    <a:pt x="0" y="221742"/>
                    <a:pt x="159496" y="0"/>
                    <a:pt x="356263" y="0"/>
                  </a:cubicBezTo>
                  <a:cubicBezTo>
                    <a:pt x="553030" y="0"/>
                    <a:pt x="712526" y="221742"/>
                    <a:pt x="712526" y="495300"/>
                  </a:cubicBezTo>
                  <a:cubicBezTo>
                    <a:pt x="712526" y="768858"/>
                    <a:pt x="553030" y="990600"/>
                    <a:pt x="356263" y="990600"/>
                  </a:cubicBezTo>
                  <a:cubicBezTo>
                    <a:pt x="159496" y="990600"/>
                    <a:pt x="0" y="768858"/>
                    <a:pt x="0" y="495300"/>
                  </a:cubicBezTo>
                  <a:close/>
                </a:path>
              </a:pathLst>
            </a:custGeom>
            <a:solidFill>
              <a:srgbClr val="1B6B3A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114753" y="6308686"/>
            <a:ext cx="1957068" cy="800248"/>
            <a:chOff x="0" y="0"/>
            <a:chExt cx="2236236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36236" cy="914400"/>
            </a:xfrm>
            <a:custGeom>
              <a:avLst/>
              <a:gdLst/>
              <a:ahLst/>
              <a:cxnLst/>
              <a:rect r="r" b="b" t="t" l="l"/>
              <a:pathLst>
                <a:path h="914400" w="2236236">
                  <a:moveTo>
                    <a:pt x="0" y="365760"/>
                  </a:moveTo>
                  <a:cubicBezTo>
                    <a:pt x="0" y="163703"/>
                    <a:pt x="117750" y="0"/>
                    <a:pt x="263087" y="0"/>
                  </a:cubicBezTo>
                  <a:lnTo>
                    <a:pt x="1973150" y="0"/>
                  </a:lnTo>
                  <a:cubicBezTo>
                    <a:pt x="2118487" y="0"/>
                    <a:pt x="2236236" y="163703"/>
                    <a:pt x="2236236" y="365760"/>
                  </a:cubicBezTo>
                  <a:lnTo>
                    <a:pt x="2236236" y="548640"/>
                  </a:lnTo>
                  <a:cubicBezTo>
                    <a:pt x="2236236" y="750697"/>
                    <a:pt x="2118487" y="914400"/>
                    <a:pt x="1973150" y="914400"/>
                  </a:cubicBezTo>
                  <a:lnTo>
                    <a:pt x="263087" y="914400"/>
                  </a:lnTo>
                  <a:cubicBezTo>
                    <a:pt x="117750" y="914400"/>
                    <a:pt x="0" y="750697"/>
                    <a:pt x="0" y="548640"/>
                  </a:cubicBezTo>
                  <a:close/>
                </a:path>
              </a:pathLst>
            </a:custGeom>
            <a:solidFill>
              <a:srgbClr val="1B6B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2236236" cy="971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Cumplido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589868" y="1659304"/>
            <a:ext cx="2532676" cy="816141"/>
            <a:chOff x="0" y="0"/>
            <a:chExt cx="2893953" cy="932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93953" cy="932560"/>
            </a:xfrm>
            <a:custGeom>
              <a:avLst/>
              <a:gdLst/>
              <a:ahLst/>
              <a:cxnLst/>
              <a:rect r="r" b="b" t="t" l="l"/>
              <a:pathLst>
                <a:path h="932560" w="2893953">
                  <a:moveTo>
                    <a:pt x="0" y="0"/>
                  </a:moveTo>
                  <a:lnTo>
                    <a:pt x="2893953" y="0"/>
                  </a:lnTo>
                  <a:lnTo>
                    <a:pt x="2893953" y="932560"/>
                  </a:lnTo>
                  <a:lnTo>
                    <a:pt x="0" y="932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38" r="-39026" b="-3309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2893953" cy="999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H4 · 25-sep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44418" y="2914303"/>
            <a:ext cx="623575" cy="866935"/>
            <a:chOff x="0" y="0"/>
            <a:chExt cx="712526" cy="990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2526" cy="990600"/>
            </a:xfrm>
            <a:custGeom>
              <a:avLst/>
              <a:gdLst/>
              <a:ahLst/>
              <a:cxnLst/>
              <a:rect r="r" b="b" t="t" l="l"/>
              <a:pathLst>
                <a:path h="990600" w="712526">
                  <a:moveTo>
                    <a:pt x="0" y="495300"/>
                  </a:moveTo>
                  <a:cubicBezTo>
                    <a:pt x="0" y="221742"/>
                    <a:pt x="159496" y="0"/>
                    <a:pt x="356263" y="0"/>
                  </a:cubicBezTo>
                  <a:cubicBezTo>
                    <a:pt x="553030" y="0"/>
                    <a:pt x="712526" y="221742"/>
                    <a:pt x="712526" y="495300"/>
                  </a:cubicBezTo>
                  <a:cubicBezTo>
                    <a:pt x="712526" y="768858"/>
                    <a:pt x="553030" y="990600"/>
                    <a:pt x="356263" y="990600"/>
                  </a:cubicBezTo>
                  <a:cubicBezTo>
                    <a:pt x="159496" y="990600"/>
                    <a:pt x="0" y="768858"/>
                    <a:pt x="0" y="495300"/>
                  </a:cubicBezTo>
                  <a:close/>
                </a:path>
              </a:pathLst>
            </a:custGeom>
            <a:solidFill>
              <a:srgbClr val="F6C945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877672" y="6308686"/>
            <a:ext cx="1957068" cy="800248"/>
            <a:chOff x="0" y="0"/>
            <a:chExt cx="2236236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36236" cy="914400"/>
            </a:xfrm>
            <a:custGeom>
              <a:avLst/>
              <a:gdLst/>
              <a:ahLst/>
              <a:cxnLst/>
              <a:rect r="r" b="b" t="t" l="l"/>
              <a:pathLst>
                <a:path h="914400" w="2236236">
                  <a:moveTo>
                    <a:pt x="0" y="365760"/>
                  </a:moveTo>
                  <a:cubicBezTo>
                    <a:pt x="0" y="163703"/>
                    <a:pt x="117750" y="0"/>
                    <a:pt x="263087" y="0"/>
                  </a:cubicBezTo>
                  <a:lnTo>
                    <a:pt x="1973150" y="0"/>
                  </a:lnTo>
                  <a:cubicBezTo>
                    <a:pt x="2118487" y="0"/>
                    <a:pt x="2236236" y="163703"/>
                    <a:pt x="2236236" y="365760"/>
                  </a:cubicBezTo>
                  <a:lnTo>
                    <a:pt x="2236236" y="548640"/>
                  </a:lnTo>
                  <a:cubicBezTo>
                    <a:pt x="2236236" y="750697"/>
                    <a:pt x="2118487" y="914400"/>
                    <a:pt x="1973150" y="914400"/>
                  </a:cubicBezTo>
                  <a:lnTo>
                    <a:pt x="263087" y="914400"/>
                  </a:lnTo>
                  <a:cubicBezTo>
                    <a:pt x="117750" y="914400"/>
                    <a:pt x="0" y="750697"/>
                    <a:pt x="0" y="548640"/>
                  </a:cubicBezTo>
                  <a:close/>
                </a:path>
              </a:pathLst>
            </a:custGeom>
            <a:solidFill>
              <a:srgbClr val="F6C945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2236236" cy="971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Parcial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352787" y="1659304"/>
            <a:ext cx="2532676" cy="816141"/>
            <a:chOff x="0" y="0"/>
            <a:chExt cx="2893953" cy="9325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93953" cy="932560"/>
            </a:xfrm>
            <a:custGeom>
              <a:avLst/>
              <a:gdLst/>
              <a:ahLst/>
              <a:cxnLst/>
              <a:rect r="r" b="b" t="t" l="l"/>
              <a:pathLst>
                <a:path h="932560" w="2893953">
                  <a:moveTo>
                    <a:pt x="0" y="0"/>
                  </a:moveTo>
                  <a:lnTo>
                    <a:pt x="2893953" y="0"/>
                  </a:lnTo>
                  <a:lnTo>
                    <a:pt x="2893953" y="932560"/>
                  </a:lnTo>
                  <a:lnTo>
                    <a:pt x="0" y="932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38" r="-39026" b="-3309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2893953" cy="999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H5 · 19-oct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307337" y="2914303"/>
            <a:ext cx="623575" cy="866935"/>
            <a:chOff x="0" y="0"/>
            <a:chExt cx="712526" cy="990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2526" cy="990600"/>
            </a:xfrm>
            <a:custGeom>
              <a:avLst/>
              <a:gdLst/>
              <a:ahLst/>
              <a:cxnLst/>
              <a:rect r="r" b="b" t="t" l="l"/>
              <a:pathLst>
                <a:path h="990600" w="712526">
                  <a:moveTo>
                    <a:pt x="0" y="495300"/>
                  </a:moveTo>
                  <a:cubicBezTo>
                    <a:pt x="0" y="221742"/>
                    <a:pt x="159496" y="0"/>
                    <a:pt x="356263" y="0"/>
                  </a:cubicBezTo>
                  <a:cubicBezTo>
                    <a:pt x="553030" y="0"/>
                    <a:pt x="712526" y="221742"/>
                    <a:pt x="712526" y="495300"/>
                  </a:cubicBezTo>
                  <a:cubicBezTo>
                    <a:pt x="712526" y="768858"/>
                    <a:pt x="553030" y="990600"/>
                    <a:pt x="356263" y="990600"/>
                  </a:cubicBezTo>
                  <a:cubicBezTo>
                    <a:pt x="159496" y="990600"/>
                    <a:pt x="0" y="768858"/>
                    <a:pt x="0" y="495300"/>
                  </a:cubicBezTo>
                  <a:close/>
                </a:path>
              </a:pathLst>
            </a:custGeom>
            <a:solidFill>
              <a:srgbClr val="B3261E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640591" y="6308686"/>
            <a:ext cx="1957068" cy="800248"/>
            <a:chOff x="0" y="0"/>
            <a:chExt cx="2236236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36236" cy="914400"/>
            </a:xfrm>
            <a:custGeom>
              <a:avLst/>
              <a:gdLst/>
              <a:ahLst/>
              <a:cxnLst/>
              <a:rect r="r" b="b" t="t" l="l"/>
              <a:pathLst>
                <a:path h="914400" w="2236236">
                  <a:moveTo>
                    <a:pt x="0" y="365760"/>
                  </a:moveTo>
                  <a:cubicBezTo>
                    <a:pt x="0" y="163703"/>
                    <a:pt x="117750" y="0"/>
                    <a:pt x="263087" y="0"/>
                  </a:cubicBezTo>
                  <a:lnTo>
                    <a:pt x="1973150" y="0"/>
                  </a:lnTo>
                  <a:cubicBezTo>
                    <a:pt x="2118487" y="0"/>
                    <a:pt x="2236236" y="163703"/>
                    <a:pt x="2236236" y="365760"/>
                  </a:cubicBezTo>
                  <a:lnTo>
                    <a:pt x="2236236" y="548640"/>
                  </a:lnTo>
                  <a:cubicBezTo>
                    <a:pt x="2236236" y="750697"/>
                    <a:pt x="2118487" y="914400"/>
                    <a:pt x="1973150" y="914400"/>
                  </a:cubicBezTo>
                  <a:lnTo>
                    <a:pt x="263087" y="914400"/>
                  </a:lnTo>
                  <a:cubicBezTo>
                    <a:pt x="117750" y="914400"/>
                    <a:pt x="0" y="750697"/>
                    <a:pt x="0" y="548640"/>
                  </a:cubicBezTo>
                  <a:close/>
                </a:path>
              </a:pathLst>
            </a:custGeom>
            <a:solidFill>
              <a:srgbClr val="B3261E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2236236" cy="971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riesgo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0" y="9166653"/>
            <a:ext cx="15043240" cy="1120347"/>
            <a:chOff x="0" y="0"/>
            <a:chExt cx="17189104" cy="12801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18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17189104">
                  <a:moveTo>
                    <a:pt x="0" y="0"/>
                  </a:moveTo>
                  <a:lnTo>
                    <a:pt x="17189104" y="0"/>
                  </a:lnTo>
                  <a:lnTo>
                    <a:pt x="1718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-28735" b="-28681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7189104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3421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H4: la sincronización del cliente sigue pendiente. H5: faltan registro de series y operación sin conexión.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3885463" y="2162324"/>
            <a:ext cx="4203164" cy="6670953"/>
          </a:xfrm>
          <a:custGeom>
            <a:avLst/>
            <a:gdLst/>
            <a:ahLst/>
            <a:cxnLst/>
            <a:rect r="r" b="b" t="t" l="l"/>
            <a:pathLst>
              <a:path h="6670953" w="4203164">
                <a:moveTo>
                  <a:pt x="0" y="0"/>
                </a:moveTo>
                <a:lnTo>
                  <a:pt x="4203164" y="0"/>
                </a:lnTo>
                <a:lnTo>
                  <a:pt x="4203164" y="6670953"/>
                </a:lnTo>
                <a:lnTo>
                  <a:pt x="0" y="6670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57" t="0" r="-3257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301111" y="4151843"/>
            <a:ext cx="2532676" cy="167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Alcance y requisitos cerrados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064030" y="4151843"/>
            <a:ext cx="2532676" cy="167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 y modelo de datos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826949" y="4151843"/>
            <a:ext cx="2532676" cy="167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Motor matemático v1 funcional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589868" y="4151843"/>
            <a:ext cx="2532676" cy="167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Datos y sincronización operativa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352787" y="4151843"/>
            <a:ext cx="2532676" cy="167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MVP integrado e instalable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139160" y="9608820"/>
            <a:ext cx="11887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34214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0060" y="287655"/>
            <a:ext cx="5401223" cy="1371600"/>
            <a:chOff x="0" y="0"/>
            <a:chExt cx="7201631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01631" cy="1828800"/>
            </a:xfrm>
            <a:custGeom>
              <a:avLst/>
              <a:gdLst/>
              <a:ahLst/>
              <a:cxnLst/>
              <a:rect r="r" b="b" t="t" l="l"/>
              <a:pathLst>
                <a:path h="1828800" w="7201631">
                  <a:moveTo>
                    <a:pt x="0" y="0"/>
                  </a:moveTo>
                  <a:lnTo>
                    <a:pt x="7201631" y="0"/>
                  </a:lnTo>
                  <a:lnTo>
                    <a:pt x="720163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768" r="-207270" b="-1857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7201631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Tres ajustes mayores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80060" y="1472930"/>
            <a:ext cx="5299710" cy="6739890"/>
            <a:chOff x="0" y="0"/>
            <a:chExt cx="7066280" cy="8986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66280" cy="8986520"/>
            </a:xfrm>
            <a:custGeom>
              <a:avLst/>
              <a:gdLst/>
              <a:ahLst/>
              <a:cxnLst/>
              <a:rect r="r" b="b" t="t" l="l"/>
              <a:pathLst>
                <a:path h="8986520" w="706628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6846062" y="0"/>
                  </a:lnTo>
                  <a:cubicBezTo>
                    <a:pt x="6967728" y="0"/>
                    <a:pt x="7066280" y="98552"/>
                    <a:pt x="7066280" y="220218"/>
                  </a:cubicBezTo>
                  <a:lnTo>
                    <a:pt x="7066280" y="8766302"/>
                  </a:lnTo>
                  <a:cubicBezTo>
                    <a:pt x="7066280" y="8887968"/>
                    <a:pt x="6967728" y="8986520"/>
                    <a:pt x="6846062" y="8986520"/>
                  </a:cubicBezTo>
                  <a:lnTo>
                    <a:pt x="220218" y="8986520"/>
                  </a:lnTo>
                  <a:cubicBezTo>
                    <a:pt x="98552" y="8986520"/>
                    <a:pt x="0" y="8887968"/>
                    <a:pt x="0" y="8766302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01065" y="1893935"/>
            <a:ext cx="4457700" cy="685800"/>
            <a:chOff x="0" y="0"/>
            <a:chExt cx="59436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5577840" y="0"/>
                  </a:lnTo>
                  <a:cubicBezTo>
                    <a:pt x="5779897" y="0"/>
                    <a:pt x="5943600" y="163703"/>
                    <a:pt x="5943600" y="365760"/>
                  </a:cubicBezTo>
                  <a:lnTo>
                    <a:pt x="5943600" y="548640"/>
                  </a:lnTo>
                  <a:cubicBezTo>
                    <a:pt x="5943600" y="750697"/>
                    <a:pt x="5779897" y="914400"/>
                    <a:pt x="5577840" y="914400"/>
                  </a:cubicBezTo>
                  <a:lnTo>
                    <a:pt x="365760" y="914400"/>
                  </a:lnTo>
                  <a:cubicBezTo>
                    <a:pt x="163703" y="914400"/>
                    <a:pt x="0" y="750697"/>
                    <a:pt x="0" y="548640"/>
                  </a:cubicBezTo>
                  <a:close/>
                </a:path>
              </a:pathLst>
            </a:custGeom>
            <a:solidFill>
              <a:srgbClr val="6B4FB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943600" cy="971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ADR-007 · 3 oct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065" y="2922635"/>
            <a:ext cx="4457700" cy="822960"/>
            <a:chOff x="0" y="0"/>
            <a:chExt cx="59436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4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59436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Identidad visual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01065" y="3816080"/>
            <a:ext cx="4457700" cy="404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De menta sobre negro a morado y amarillo, sin degradados. Sigue las HIG de Apple y los contrastes cumplen WCAG AA.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72200" y="1472930"/>
            <a:ext cx="5299710" cy="6739890"/>
            <a:chOff x="0" y="0"/>
            <a:chExt cx="7066280" cy="8986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66280" cy="8986520"/>
            </a:xfrm>
            <a:custGeom>
              <a:avLst/>
              <a:gdLst/>
              <a:ahLst/>
              <a:cxnLst/>
              <a:rect r="r" b="b" t="t" l="l"/>
              <a:pathLst>
                <a:path h="8986520" w="706628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6846062" y="0"/>
                  </a:lnTo>
                  <a:cubicBezTo>
                    <a:pt x="6967728" y="0"/>
                    <a:pt x="7066280" y="98552"/>
                    <a:pt x="7066280" y="220218"/>
                  </a:cubicBezTo>
                  <a:lnTo>
                    <a:pt x="7066280" y="8766302"/>
                  </a:lnTo>
                  <a:cubicBezTo>
                    <a:pt x="7066280" y="8887968"/>
                    <a:pt x="6967728" y="8986520"/>
                    <a:pt x="6846062" y="8986520"/>
                  </a:cubicBezTo>
                  <a:lnTo>
                    <a:pt x="220218" y="8986520"/>
                  </a:lnTo>
                  <a:cubicBezTo>
                    <a:pt x="98552" y="8986520"/>
                    <a:pt x="0" y="8887968"/>
                    <a:pt x="0" y="8766302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593205" y="1893935"/>
            <a:ext cx="4457700" cy="685800"/>
            <a:chOff x="0" y="0"/>
            <a:chExt cx="59436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5577840" y="0"/>
                  </a:lnTo>
                  <a:cubicBezTo>
                    <a:pt x="5779897" y="0"/>
                    <a:pt x="5943600" y="163703"/>
                    <a:pt x="5943600" y="365760"/>
                  </a:cubicBezTo>
                  <a:lnTo>
                    <a:pt x="5943600" y="548640"/>
                  </a:lnTo>
                  <a:cubicBezTo>
                    <a:pt x="5943600" y="750697"/>
                    <a:pt x="5779897" y="914400"/>
                    <a:pt x="5577840" y="914400"/>
                  </a:cubicBezTo>
                  <a:lnTo>
                    <a:pt x="365760" y="914400"/>
                  </a:lnTo>
                  <a:cubicBezTo>
                    <a:pt x="163703" y="914400"/>
                    <a:pt x="0" y="750697"/>
                    <a:pt x="0" y="548640"/>
                  </a:cubicBezTo>
                  <a:close/>
                </a:path>
              </a:pathLst>
            </a:custGeom>
            <a:solidFill>
              <a:srgbClr val="6B4FBB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5943600" cy="971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ADR-008 · 4 oct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93205" y="2922635"/>
            <a:ext cx="4457700" cy="822960"/>
            <a:chOff x="0" y="0"/>
            <a:chExt cx="59436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9436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del cliente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593205" y="3816080"/>
            <a:ext cx="4457700" cy="404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De Astro a Vite + Preact + Capacitor 8. Son 68 pantallas con navegación continua; Astro queda para RID Web.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864340" y="1472930"/>
            <a:ext cx="5299710" cy="6739890"/>
            <a:chOff x="0" y="0"/>
            <a:chExt cx="7066280" cy="8986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66280" cy="8986520"/>
            </a:xfrm>
            <a:custGeom>
              <a:avLst/>
              <a:gdLst/>
              <a:ahLst/>
              <a:cxnLst/>
              <a:rect r="r" b="b" t="t" l="l"/>
              <a:pathLst>
                <a:path h="8986520" w="706628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6846062" y="0"/>
                  </a:lnTo>
                  <a:cubicBezTo>
                    <a:pt x="6967728" y="0"/>
                    <a:pt x="7066280" y="98552"/>
                    <a:pt x="7066280" y="220218"/>
                  </a:cubicBezTo>
                  <a:lnTo>
                    <a:pt x="7066280" y="8766302"/>
                  </a:lnTo>
                  <a:cubicBezTo>
                    <a:pt x="7066280" y="8887968"/>
                    <a:pt x="6967728" y="8986520"/>
                    <a:pt x="6846062" y="8986520"/>
                  </a:cubicBezTo>
                  <a:lnTo>
                    <a:pt x="220218" y="8986520"/>
                  </a:lnTo>
                  <a:cubicBezTo>
                    <a:pt x="98552" y="8986520"/>
                    <a:pt x="0" y="8887968"/>
                    <a:pt x="0" y="8766302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285345" y="1893935"/>
            <a:ext cx="4457700" cy="685800"/>
            <a:chOff x="0" y="0"/>
            <a:chExt cx="59436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5577840" y="0"/>
                  </a:lnTo>
                  <a:cubicBezTo>
                    <a:pt x="5779897" y="0"/>
                    <a:pt x="5943600" y="163703"/>
                    <a:pt x="5943600" y="365760"/>
                  </a:cubicBezTo>
                  <a:lnTo>
                    <a:pt x="5943600" y="548640"/>
                  </a:lnTo>
                  <a:cubicBezTo>
                    <a:pt x="5943600" y="750697"/>
                    <a:pt x="5779897" y="914400"/>
                    <a:pt x="5577840" y="914400"/>
                  </a:cubicBezTo>
                  <a:lnTo>
                    <a:pt x="365760" y="914400"/>
                  </a:lnTo>
                  <a:cubicBezTo>
                    <a:pt x="163703" y="914400"/>
                    <a:pt x="0" y="750697"/>
                    <a:pt x="0" y="548640"/>
                  </a:cubicBezTo>
                  <a:close/>
                </a:path>
              </a:pathLst>
            </a:custGeom>
            <a:solidFill>
              <a:srgbClr val="F6C945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943600" cy="971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ADR-009 · propuesta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285345" y="2922635"/>
            <a:ext cx="4457700" cy="822960"/>
            <a:chOff x="0" y="0"/>
            <a:chExt cx="594360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4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59436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Recuperar contraseña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285345" y="3816080"/>
            <a:ext cx="4457700" cy="404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Por código y no por enlace: evita App Links y funciona dentro de la app. Pendiente de aprobación.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139160" y="9608820"/>
            <a:ext cx="11887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34214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803" y="470352"/>
            <a:ext cx="12368826" cy="1371600"/>
            <a:chOff x="0" y="0"/>
            <a:chExt cx="16491768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91769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91769">
                  <a:moveTo>
                    <a:pt x="0" y="0"/>
                  </a:moveTo>
                  <a:lnTo>
                    <a:pt x="16491769" y="0"/>
                  </a:lnTo>
                  <a:lnTo>
                    <a:pt x="1649176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768" r="-34178" b="-1857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6491768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 que aprendimos al integrar cliente y servidor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7803" y="1826875"/>
            <a:ext cx="5663710" cy="3894687"/>
            <a:chOff x="0" y="0"/>
            <a:chExt cx="6153712" cy="4231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53712" cy="4231640"/>
            </a:xfrm>
            <a:custGeom>
              <a:avLst/>
              <a:gdLst/>
              <a:ahLst/>
              <a:cxnLst/>
              <a:rect r="r" b="b" t="t" l="l"/>
              <a:pathLst>
                <a:path h="4231640" w="6153712">
                  <a:moveTo>
                    <a:pt x="0" y="220726"/>
                  </a:moveTo>
                  <a:cubicBezTo>
                    <a:pt x="0" y="98806"/>
                    <a:pt x="56219" y="0"/>
                    <a:pt x="125589" y="0"/>
                  </a:cubicBezTo>
                  <a:lnTo>
                    <a:pt x="6028123" y="0"/>
                  </a:lnTo>
                  <a:cubicBezTo>
                    <a:pt x="6097493" y="0"/>
                    <a:pt x="6153712" y="98806"/>
                    <a:pt x="6153712" y="220726"/>
                  </a:cubicBezTo>
                  <a:lnTo>
                    <a:pt x="6153712" y="4010914"/>
                  </a:lnTo>
                  <a:cubicBezTo>
                    <a:pt x="6153712" y="4132834"/>
                    <a:pt x="6097493" y="4231640"/>
                    <a:pt x="6028123" y="4231640"/>
                  </a:cubicBezTo>
                  <a:lnTo>
                    <a:pt x="125589" y="4231640"/>
                  </a:lnTo>
                  <a:cubicBezTo>
                    <a:pt x="56219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561763" y="2153968"/>
            <a:ext cx="5075791" cy="884052"/>
            <a:chOff x="0" y="0"/>
            <a:chExt cx="5514928" cy="9605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14928" cy="960537"/>
            </a:xfrm>
            <a:custGeom>
              <a:avLst/>
              <a:gdLst/>
              <a:ahLst/>
              <a:cxnLst/>
              <a:rect r="r" b="b" t="t" l="l"/>
              <a:pathLst>
                <a:path h="960537" w="5514928">
                  <a:moveTo>
                    <a:pt x="0" y="0"/>
                  </a:moveTo>
                  <a:lnTo>
                    <a:pt x="5514928" y="0"/>
                  </a:lnTo>
                  <a:lnTo>
                    <a:pt x="5514928" y="960537"/>
                  </a:lnTo>
                  <a:lnTo>
                    <a:pt x="0" y="960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2" r="-75752" b="-1442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5514928" cy="1027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6B4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Sesión del día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67803" y="6072273"/>
            <a:ext cx="5663710" cy="3894687"/>
            <a:chOff x="0" y="0"/>
            <a:chExt cx="6153712" cy="4231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53712" cy="4231640"/>
            </a:xfrm>
            <a:custGeom>
              <a:avLst/>
              <a:gdLst/>
              <a:ahLst/>
              <a:cxnLst/>
              <a:rect r="r" b="b" t="t" l="l"/>
              <a:pathLst>
                <a:path h="4231640" w="6153712">
                  <a:moveTo>
                    <a:pt x="0" y="220726"/>
                  </a:moveTo>
                  <a:cubicBezTo>
                    <a:pt x="0" y="98806"/>
                    <a:pt x="56219" y="0"/>
                    <a:pt x="125589" y="0"/>
                  </a:cubicBezTo>
                  <a:lnTo>
                    <a:pt x="6028123" y="0"/>
                  </a:lnTo>
                  <a:cubicBezTo>
                    <a:pt x="6097493" y="0"/>
                    <a:pt x="6153712" y="98806"/>
                    <a:pt x="6153712" y="220726"/>
                  </a:cubicBezTo>
                  <a:lnTo>
                    <a:pt x="6153712" y="4010914"/>
                  </a:lnTo>
                  <a:cubicBezTo>
                    <a:pt x="6153712" y="4132834"/>
                    <a:pt x="6097493" y="4231640"/>
                    <a:pt x="6028123" y="4231640"/>
                  </a:cubicBezTo>
                  <a:lnTo>
                    <a:pt x="125589" y="4231640"/>
                  </a:lnTo>
                  <a:cubicBezTo>
                    <a:pt x="56219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61763" y="6399366"/>
            <a:ext cx="5075791" cy="884052"/>
            <a:chOff x="0" y="0"/>
            <a:chExt cx="5514928" cy="9605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14928" cy="960537"/>
            </a:xfrm>
            <a:custGeom>
              <a:avLst/>
              <a:gdLst/>
              <a:ahLst/>
              <a:cxnLst/>
              <a:rect r="r" b="b" t="t" l="l"/>
              <a:pathLst>
                <a:path h="960537" w="5514928">
                  <a:moveTo>
                    <a:pt x="0" y="0"/>
                  </a:moveTo>
                  <a:lnTo>
                    <a:pt x="5514928" y="0"/>
                  </a:lnTo>
                  <a:lnTo>
                    <a:pt x="5514928" y="960537"/>
                  </a:lnTo>
                  <a:lnTo>
                    <a:pt x="0" y="960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2" r="-75752" b="-14421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5514928" cy="1027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6B4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Integración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069199" y="1826875"/>
            <a:ext cx="5126936" cy="3173730"/>
            <a:chOff x="0" y="0"/>
            <a:chExt cx="6835915" cy="4231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35915" cy="4231640"/>
            </a:xfrm>
            <a:custGeom>
              <a:avLst/>
              <a:gdLst/>
              <a:ahLst/>
              <a:cxnLst/>
              <a:rect r="r" b="b" t="t" l="l"/>
              <a:pathLst>
                <a:path h="4231640" w="6835915">
                  <a:moveTo>
                    <a:pt x="0" y="220726"/>
                  </a:moveTo>
                  <a:cubicBezTo>
                    <a:pt x="0" y="98806"/>
                    <a:pt x="62451" y="0"/>
                    <a:pt x="139512" y="0"/>
                  </a:cubicBezTo>
                  <a:lnTo>
                    <a:pt x="6696403" y="0"/>
                  </a:lnTo>
                  <a:cubicBezTo>
                    <a:pt x="6773463" y="0"/>
                    <a:pt x="6835915" y="98806"/>
                    <a:pt x="6835915" y="220726"/>
                  </a:cubicBezTo>
                  <a:lnTo>
                    <a:pt x="6835915" y="4010914"/>
                  </a:lnTo>
                  <a:cubicBezTo>
                    <a:pt x="6835915" y="4132834"/>
                    <a:pt x="6773463" y="4231640"/>
                    <a:pt x="6696403" y="4231640"/>
                  </a:cubicBezTo>
                  <a:lnTo>
                    <a:pt x="139512" y="4231640"/>
                  </a:lnTo>
                  <a:cubicBezTo>
                    <a:pt x="62451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335299" y="1975443"/>
            <a:ext cx="4594737" cy="720403"/>
            <a:chOff x="0" y="0"/>
            <a:chExt cx="6126316" cy="9605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26316" cy="960537"/>
            </a:xfrm>
            <a:custGeom>
              <a:avLst/>
              <a:gdLst/>
              <a:ahLst/>
              <a:cxnLst/>
              <a:rect r="r" b="b" t="t" l="l"/>
              <a:pathLst>
                <a:path h="960537" w="6126316">
                  <a:moveTo>
                    <a:pt x="0" y="0"/>
                  </a:moveTo>
                  <a:lnTo>
                    <a:pt x="6126316" y="0"/>
                  </a:lnTo>
                  <a:lnTo>
                    <a:pt x="6126316" y="960537"/>
                  </a:lnTo>
                  <a:lnTo>
                    <a:pt x="0" y="960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2" r="-58213" b="-14421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6126316" cy="1027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6B4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Prototipos</a:t>
              </a:r>
            </a:p>
          </p:txBody>
        </p:sp>
      </p:grpSp>
      <p:pic>
        <p:nvPicPr>
          <p:cNvPr name="Picture 20" id="20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>
                  <p14:trim st="0.0000" end="6083.3000"/>
                </p14:media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7643814" y="5186921"/>
            <a:ext cx="2241606" cy="4886197"/>
          </a:xfrm>
          <a:prstGeom prst="rect">
            <a:avLst/>
          </a:prstGeom>
        </p:spPr>
      </p:pic>
      <p:pic>
        <p:nvPicPr>
          <p:cNvPr name="Picture 21" id="21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12636629" y="654707"/>
            <a:ext cx="4205726" cy="9152233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561763" y="3108907"/>
            <a:ext cx="5075791" cy="232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681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El esquema no define cuál toca. Decidirlo en el móvil sería prescribir: se pide una regla al servidor.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1763" y="7354304"/>
            <a:ext cx="5075791" cy="232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681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CORS sin x-client-info bloqueaba la llamada y una vista no respetaba RLS. Ambos ya corregidos.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35299" y="2867005"/>
            <a:ext cx="4594737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De wireframes a 68 pantallas en nueve iteraciones: más alcance, pero se programa sin rediseñar.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139160" y="9608820"/>
            <a:ext cx="11887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34214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4697" y="564298"/>
            <a:ext cx="13656118" cy="1371600"/>
            <a:chOff x="0" y="0"/>
            <a:chExt cx="18208158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08158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08158">
                  <a:moveTo>
                    <a:pt x="0" y="0"/>
                  </a:moveTo>
                  <a:lnTo>
                    <a:pt x="18208158" y="0"/>
                  </a:lnTo>
                  <a:lnTo>
                    <a:pt x="1820815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768" r="-21530" b="-1857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8208158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</a:t>
              </a:r>
              <a:r>
                <a:rPr lang="en-US" sz="48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cliente consume, el servidor prescribe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6860" y="2612173"/>
            <a:ext cx="3852932" cy="3996690"/>
            <a:chOff x="0" y="0"/>
            <a:chExt cx="5137242" cy="5328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37242" cy="5328920"/>
            </a:xfrm>
            <a:custGeom>
              <a:avLst/>
              <a:gdLst/>
              <a:ahLst/>
              <a:cxnLst/>
              <a:rect r="r" b="b" t="t" l="l"/>
              <a:pathLst>
                <a:path h="5328920" w="5137242">
                  <a:moveTo>
                    <a:pt x="0" y="220472"/>
                  </a:moveTo>
                  <a:cubicBezTo>
                    <a:pt x="0" y="98679"/>
                    <a:pt x="81197" y="0"/>
                    <a:pt x="181413" y="0"/>
                  </a:cubicBezTo>
                  <a:lnTo>
                    <a:pt x="4955829" y="0"/>
                  </a:lnTo>
                  <a:cubicBezTo>
                    <a:pt x="5056045" y="0"/>
                    <a:pt x="5137242" y="98679"/>
                    <a:pt x="5137242" y="220472"/>
                  </a:cubicBezTo>
                  <a:lnTo>
                    <a:pt x="5137242" y="5108448"/>
                  </a:lnTo>
                  <a:cubicBezTo>
                    <a:pt x="5137242" y="5230241"/>
                    <a:pt x="5056045" y="5328920"/>
                    <a:pt x="4955829" y="5328920"/>
                  </a:cubicBezTo>
                  <a:lnTo>
                    <a:pt x="181413" y="5328920"/>
                  </a:lnTo>
                  <a:cubicBezTo>
                    <a:pt x="81197" y="5328920"/>
                    <a:pt x="0" y="5230241"/>
                    <a:pt x="0" y="5108448"/>
                  </a:cubicBezTo>
                  <a:close/>
                </a:path>
              </a:pathLst>
            </a:custGeom>
            <a:solidFill>
              <a:srgbClr val="6B4FBB"/>
            </a:solidFill>
            <a:ln w="19050" cap="sq">
              <a:solidFill>
                <a:srgbClr val="6B4FB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46848" y="2896018"/>
            <a:ext cx="3272954" cy="822960"/>
            <a:chOff x="0" y="0"/>
            <a:chExt cx="4363939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639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63939">
                  <a:moveTo>
                    <a:pt x="0" y="0"/>
                  </a:moveTo>
                  <a:lnTo>
                    <a:pt x="4363939" y="0"/>
                  </a:lnTo>
                  <a:lnTo>
                    <a:pt x="43639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-21530" b="-4417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4363939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Cliente móvil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46848" y="3858043"/>
            <a:ext cx="3272954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Vite + Preact + Capacitor 8 · 68 pantallas · 42 pruebas</a:t>
            </a:r>
          </a:p>
        </p:txBody>
      </p:sp>
      <p:sp>
        <p:nvSpPr>
          <p:cNvPr name="AutoShape 11" id="11"/>
          <p:cNvSpPr/>
          <p:nvPr/>
        </p:nvSpPr>
        <p:spPr>
          <a:xfrm>
            <a:off x="5438409" y="4581940"/>
            <a:ext cx="1085852" cy="57154"/>
          </a:xfrm>
          <a:prstGeom prst="line">
            <a:avLst/>
          </a:prstGeom>
          <a:ln cap="rnd" w="28575">
            <a:solidFill>
              <a:srgbClr val="1B103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5566291" y="2612173"/>
            <a:ext cx="3852932" cy="3996690"/>
            <a:chOff x="0" y="0"/>
            <a:chExt cx="5137242" cy="5328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37242" cy="5328920"/>
            </a:xfrm>
            <a:custGeom>
              <a:avLst/>
              <a:gdLst/>
              <a:ahLst/>
              <a:cxnLst/>
              <a:rect r="r" b="b" t="t" l="l"/>
              <a:pathLst>
                <a:path h="5328920" w="5137242">
                  <a:moveTo>
                    <a:pt x="0" y="220472"/>
                  </a:moveTo>
                  <a:cubicBezTo>
                    <a:pt x="0" y="98679"/>
                    <a:pt x="81197" y="0"/>
                    <a:pt x="181413" y="0"/>
                  </a:cubicBezTo>
                  <a:lnTo>
                    <a:pt x="4955829" y="0"/>
                  </a:lnTo>
                  <a:cubicBezTo>
                    <a:pt x="5056045" y="0"/>
                    <a:pt x="5137242" y="98679"/>
                    <a:pt x="5137242" y="220472"/>
                  </a:cubicBezTo>
                  <a:lnTo>
                    <a:pt x="5137242" y="5108448"/>
                  </a:lnTo>
                  <a:cubicBezTo>
                    <a:pt x="5137242" y="5230241"/>
                    <a:pt x="5056045" y="5328920"/>
                    <a:pt x="4955829" y="5328920"/>
                  </a:cubicBezTo>
                  <a:lnTo>
                    <a:pt x="181413" y="5328920"/>
                  </a:lnTo>
                  <a:cubicBezTo>
                    <a:pt x="81197" y="5328920"/>
                    <a:pt x="0" y="5230241"/>
                    <a:pt x="0" y="5108448"/>
                  </a:cubicBezTo>
                  <a:close/>
                </a:path>
              </a:pathLst>
            </a:custGeom>
            <a:solidFill>
              <a:srgbClr val="1B1033"/>
            </a:solidFill>
            <a:ln w="19050" cap="sq">
              <a:solidFill>
                <a:srgbClr val="1B1033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856279" y="2675834"/>
            <a:ext cx="3272954" cy="1263328"/>
            <a:chOff x="0" y="0"/>
            <a:chExt cx="4363939" cy="16844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63939" cy="1684437"/>
            </a:xfrm>
            <a:custGeom>
              <a:avLst/>
              <a:gdLst/>
              <a:ahLst/>
              <a:cxnLst/>
              <a:rect r="r" b="b" t="t" l="l"/>
              <a:pathLst>
                <a:path h="1684437" w="4363939">
                  <a:moveTo>
                    <a:pt x="0" y="0"/>
                  </a:moveTo>
                  <a:lnTo>
                    <a:pt x="4363939" y="0"/>
                  </a:lnTo>
                  <a:lnTo>
                    <a:pt x="4363939" y="1684437"/>
                  </a:lnTo>
                  <a:lnTo>
                    <a:pt x="0" y="1684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8" r="-21530" b="60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4363939" cy="1751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6C9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Función de borde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856279" y="3858043"/>
            <a:ext cx="3272954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@rid/engine · GET /plan · 266 pruebas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475722" y="2612173"/>
            <a:ext cx="3852932" cy="3996690"/>
            <a:chOff x="0" y="0"/>
            <a:chExt cx="5137242" cy="5328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37242" cy="5328920"/>
            </a:xfrm>
            <a:custGeom>
              <a:avLst/>
              <a:gdLst/>
              <a:ahLst/>
              <a:cxnLst/>
              <a:rect r="r" b="b" t="t" l="l"/>
              <a:pathLst>
                <a:path h="5328920" w="5137242">
                  <a:moveTo>
                    <a:pt x="0" y="220472"/>
                  </a:moveTo>
                  <a:cubicBezTo>
                    <a:pt x="0" y="98679"/>
                    <a:pt x="81197" y="0"/>
                    <a:pt x="181413" y="0"/>
                  </a:cubicBezTo>
                  <a:lnTo>
                    <a:pt x="4955829" y="0"/>
                  </a:lnTo>
                  <a:cubicBezTo>
                    <a:pt x="5056045" y="0"/>
                    <a:pt x="5137242" y="98679"/>
                    <a:pt x="5137242" y="220472"/>
                  </a:cubicBezTo>
                  <a:lnTo>
                    <a:pt x="5137242" y="5108448"/>
                  </a:lnTo>
                  <a:cubicBezTo>
                    <a:pt x="5137242" y="5230241"/>
                    <a:pt x="5056045" y="5328920"/>
                    <a:pt x="4955829" y="5328920"/>
                  </a:cubicBezTo>
                  <a:lnTo>
                    <a:pt x="181413" y="5328920"/>
                  </a:lnTo>
                  <a:cubicBezTo>
                    <a:pt x="81197" y="5328920"/>
                    <a:pt x="0" y="5230241"/>
                    <a:pt x="0" y="5108448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765710" y="2896018"/>
            <a:ext cx="3272954" cy="822960"/>
            <a:chOff x="0" y="0"/>
            <a:chExt cx="4363939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639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63939">
                  <a:moveTo>
                    <a:pt x="0" y="0"/>
                  </a:moveTo>
                  <a:lnTo>
                    <a:pt x="4363939" y="0"/>
                  </a:lnTo>
                  <a:lnTo>
                    <a:pt x="43639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-21530" b="-4417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4363939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6B4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765710" y="3858043"/>
            <a:ext cx="3272954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con RLS · migraciones 001–015 · 470 ejercicios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6860" y="7275613"/>
            <a:ext cx="13671794" cy="1802130"/>
            <a:chOff x="0" y="0"/>
            <a:chExt cx="18229058" cy="2402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229058" cy="2402840"/>
            </a:xfrm>
            <a:custGeom>
              <a:avLst/>
              <a:gdLst/>
              <a:ahLst/>
              <a:cxnLst/>
              <a:rect r="r" b="b" t="t" l="l"/>
              <a:pathLst>
                <a:path h="2402840" w="18229058">
                  <a:moveTo>
                    <a:pt x="0" y="221869"/>
                  </a:moveTo>
                  <a:cubicBezTo>
                    <a:pt x="0" y="99314"/>
                    <a:pt x="81719" y="0"/>
                    <a:pt x="182562" y="0"/>
                  </a:cubicBezTo>
                  <a:lnTo>
                    <a:pt x="18046497" y="0"/>
                  </a:lnTo>
                  <a:cubicBezTo>
                    <a:pt x="18147340" y="0"/>
                    <a:pt x="18229058" y="99314"/>
                    <a:pt x="18229058" y="221869"/>
                  </a:cubicBezTo>
                  <a:lnTo>
                    <a:pt x="18229058" y="2180971"/>
                  </a:lnTo>
                  <a:cubicBezTo>
                    <a:pt x="18229058" y="2303526"/>
                    <a:pt x="18147340" y="2402840"/>
                    <a:pt x="18046497" y="2402840"/>
                  </a:cubicBezTo>
                  <a:lnTo>
                    <a:pt x="182562" y="2402840"/>
                  </a:lnTo>
                  <a:cubicBezTo>
                    <a:pt x="81719" y="2402840"/>
                    <a:pt x="0" y="2303526"/>
                    <a:pt x="0" y="2180971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03279" y="7353718"/>
            <a:ext cx="12978956" cy="1645920"/>
            <a:chOff x="0" y="0"/>
            <a:chExt cx="17305274" cy="21945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30527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305274">
                  <a:moveTo>
                    <a:pt x="0" y="0"/>
                  </a:moveTo>
                  <a:lnTo>
                    <a:pt x="17305274" y="0"/>
                  </a:lnTo>
                  <a:lnTo>
                    <a:pt x="17305274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31" r="-21530" b="-13673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7305274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6B4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Regla de arquitectura: </a:t>
              </a:r>
              <a:r>
                <a:rPr lang="en-US" sz="3600">
                  <a:solidFill>
                    <a:srgbClr val="1B10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dispositivo captura, sincroniza y consulta; el servidor prescribe.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6139160" y="9608820"/>
            <a:ext cx="11887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34214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6596360" cy="1371600"/>
            <a:chOff x="0" y="0"/>
            <a:chExt cx="2212848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768" r="0" b="-1857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Evidencias: gestión y trazabilidad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459355"/>
            <a:ext cx="5299710" cy="3996690"/>
            <a:chOff x="0" y="0"/>
            <a:chExt cx="7066280" cy="5328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66280" cy="5328920"/>
            </a:xfrm>
            <a:custGeom>
              <a:avLst/>
              <a:gdLst/>
              <a:ahLst/>
              <a:cxnLst/>
              <a:rect r="r" b="b" t="t" l="l"/>
              <a:pathLst>
                <a:path h="5328920" w="706628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6845808" y="0"/>
                  </a:lnTo>
                  <a:cubicBezTo>
                    <a:pt x="6967601" y="0"/>
                    <a:pt x="7066280" y="98679"/>
                    <a:pt x="7066280" y="220472"/>
                  </a:cubicBezTo>
                  <a:lnTo>
                    <a:pt x="7066280" y="5108448"/>
                  </a:lnTo>
                  <a:cubicBezTo>
                    <a:pt x="7066280" y="5230241"/>
                    <a:pt x="6967601" y="5328920"/>
                    <a:pt x="6845808" y="5328920"/>
                  </a:cubicBezTo>
                  <a:lnTo>
                    <a:pt x="220472" y="5328920"/>
                  </a:lnTo>
                  <a:cubicBezTo>
                    <a:pt x="98679" y="5328920"/>
                    <a:pt x="0" y="5230241"/>
                    <a:pt x="0" y="5108448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34440" y="2674620"/>
            <a:ext cx="4457700" cy="1645920"/>
            <a:chOff x="0" y="0"/>
            <a:chExt cx="594360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43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1" r="0" b="-277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09550"/>
              <a:ext cx="5943600" cy="2404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80"/>
                </a:lnSpc>
              </a:pPr>
              <a:r>
                <a:rPr lang="en-US" sz="9900" b="true">
                  <a:solidFill>
                    <a:srgbClr val="6B4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34440" y="4322445"/>
            <a:ext cx="4457700" cy="184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actividades en el Gantt, con 10 hitos y 3 fases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05575" y="2459355"/>
            <a:ext cx="5299710" cy="3996690"/>
            <a:chOff x="0" y="0"/>
            <a:chExt cx="7066280" cy="5328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66280" cy="5328920"/>
            </a:xfrm>
            <a:custGeom>
              <a:avLst/>
              <a:gdLst/>
              <a:ahLst/>
              <a:cxnLst/>
              <a:rect r="r" b="b" t="t" l="l"/>
              <a:pathLst>
                <a:path h="5328920" w="706628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6845808" y="0"/>
                  </a:lnTo>
                  <a:cubicBezTo>
                    <a:pt x="6967601" y="0"/>
                    <a:pt x="7066280" y="98679"/>
                    <a:pt x="7066280" y="220472"/>
                  </a:cubicBezTo>
                  <a:lnTo>
                    <a:pt x="7066280" y="5108448"/>
                  </a:lnTo>
                  <a:cubicBezTo>
                    <a:pt x="7066280" y="5230241"/>
                    <a:pt x="6967601" y="5328920"/>
                    <a:pt x="6845808" y="5328920"/>
                  </a:cubicBezTo>
                  <a:lnTo>
                    <a:pt x="220472" y="5328920"/>
                  </a:lnTo>
                  <a:cubicBezTo>
                    <a:pt x="98679" y="5328920"/>
                    <a:pt x="0" y="5230241"/>
                    <a:pt x="0" y="5108448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926580" y="2674620"/>
            <a:ext cx="4457700" cy="1645920"/>
            <a:chOff x="0" y="0"/>
            <a:chExt cx="594360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43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1" r="0" b="-277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09550"/>
              <a:ext cx="5943600" cy="2404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80"/>
                </a:lnSpc>
              </a:pPr>
              <a:r>
                <a:rPr lang="en-US" sz="9900" b="true">
                  <a:solidFill>
                    <a:srgbClr val="6B4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926580" y="4322445"/>
            <a:ext cx="4457700" cy="184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tareas en el backlog de Zoho Projects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97715" y="2459355"/>
            <a:ext cx="5299710" cy="3996690"/>
            <a:chOff x="0" y="0"/>
            <a:chExt cx="7066280" cy="5328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66280" cy="5328920"/>
            </a:xfrm>
            <a:custGeom>
              <a:avLst/>
              <a:gdLst/>
              <a:ahLst/>
              <a:cxnLst/>
              <a:rect r="r" b="b" t="t" l="l"/>
              <a:pathLst>
                <a:path h="5328920" w="706628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6845808" y="0"/>
                  </a:lnTo>
                  <a:cubicBezTo>
                    <a:pt x="6967601" y="0"/>
                    <a:pt x="7066280" y="98679"/>
                    <a:pt x="7066280" y="220472"/>
                  </a:cubicBezTo>
                  <a:lnTo>
                    <a:pt x="7066280" y="5108448"/>
                  </a:lnTo>
                  <a:cubicBezTo>
                    <a:pt x="7066280" y="5230241"/>
                    <a:pt x="6967601" y="5328920"/>
                    <a:pt x="6845808" y="5328920"/>
                  </a:cubicBezTo>
                  <a:lnTo>
                    <a:pt x="220472" y="5328920"/>
                  </a:lnTo>
                  <a:cubicBezTo>
                    <a:pt x="98679" y="5328920"/>
                    <a:pt x="0" y="5230241"/>
                    <a:pt x="0" y="5108448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618720" y="2674620"/>
            <a:ext cx="4457700" cy="1645920"/>
            <a:chOff x="0" y="0"/>
            <a:chExt cx="5943600" cy="219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3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1" r="0" b="-277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09550"/>
              <a:ext cx="5943600" cy="2404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80"/>
                </a:lnSpc>
              </a:pPr>
              <a:r>
                <a:rPr lang="en-US" sz="9900" b="true">
                  <a:solidFill>
                    <a:srgbClr val="6B4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618720" y="4322445"/>
            <a:ext cx="4457700" cy="184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ADR con alternativas (001–003 y 005–009)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13435" y="6985635"/>
            <a:ext cx="16615410" cy="2076450"/>
            <a:chOff x="0" y="0"/>
            <a:chExt cx="22153880" cy="2768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53880" cy="2768600"/>
            </a:xfrm>
            <a:custGeom>
              <a:avLst/>
              <a:gdLst/>
              <a:ahLst/>
              <a:cxnLst/>
              <a:rect r="r" b="b" t="t" l="l"/>
              <a:pathLst>
                <a:path h="2768600" w="2215388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21932392" y="0"/>
                  </a:lnTo>
                  <a:cubicBezTo>
                    <a:pt x="22054693" y="0"/>
                    <a:pt x="22153880" y="99187"/>
                    <a:pt x="22153880" y="221488"/>
                  </a:cubicBezTo>
                  <a:lnTo>
                    <a:pt x="22153880" y="2547112"/>
                  </a:lnTo>
                  <a:cubicBezTo>
                    <a:pt x="22153880" y="2669413"/>
                    <a:pt x="22054693" y="2768600"/>
                    <a:pt x="2193239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1B1033"/>
            </a:solidFill>
            <a:ln w="19050" cap="sq">
              <a:solidFill>
                <a:srgbClr val="1B103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34440" y="7132320"/>
            <a:ext cx="15773400" cy="1783080"/>
            <a:chOff x="0" y="0"/>
            <a:chExt cx="21031200" cy="2377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0312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367" r="0" b="-12236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2103120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6C9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Próximo control: </a:t>
              </a:r>
              <a:r>
                <a:rPr lang="en-US" sz="3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confirmar en Git el aporte de cada integrante.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6139160" y="9608820"/>
            <a:ext cx="11887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34214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6596360" cy="1371600"/>
            <a:chOff x="0" y="0"/>
            <a:chExt cx="2212848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768" r="0" b="-1857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Monitoreo: 7 de 24 actividades completadas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92024" y="1316736"/>
            <a:ext cx="12179808" cy="8887968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1374755" y="2459355"/>
            <a:ext cx="6054090" cy="6602730"/>
            <a:chOff x="0" y="0"/>
            <a:chExt cx="8072120" cy="8803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72120" cy="8803640"/>
            </a:xfrm>
            <a:custGeom>
              <a:avLst/>
              <a:gdLst/>
              <a:ahLst/>
              <a:cxnLst/>
              <a:rect r="r" b="b" t="t" l="l"/>
              <a:pathLst>
                <a:path h="8803640" w="807212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7852029" y="0"/>
                  </a:lnTo>
                  <a:cubicBezTo>
                    <a:pt x="7973568" y="0"/>
                    <a:pt x="8072120" y="98552"/>
                    <a:pt x="8072120" y="220091"/>
                  </a:cubicBezTo>
                  <a:lnTo>
                    <a:pt x="8072120" y="8583549"/>
                  </a:lnTo>
                  <a:cubicBezTo>
                    <a:pt x="8072120" y="8705088"/>
                    <a:pt x="7973568" y="8803640"/>
                    <a:pt x="7852029" y="8803640"/>
                  </a:cubicBezTo>
                  <a:lnTo>
                    <a:pt x="220091" y="8803640"/>
                  </a:lnTo>
                  <a:cubicBezTo>
                    <a:pt x="98552" y="8803640"/>
                    <a:pt x="0" y="8705088"/>
                    <a:pt x="0" y="8583549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795760" y="2743200"/>
            <a:ext cx="5212080" cy="685800"/>
            <a:chOff x="0" y="0"/>
            <a:chExt cx="694944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9440" cy="914400"/>
            </a:xfrm>
            <a:custGeom>
              <a:avLst/>
              <a:gdLst/>
              <a:ahLst/>
              <a:cxnLst/>
              <a:rect r="r" b="b" t="t" l="l"/>
              <a:pathLst>
                <a:path h="9144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694944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B326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 retraso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795760" y="3499485"/>
            <a:ext cx="5212080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13 · Sincronización local-first (cliente)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20 · MVP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21 · Operación sin conexión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95760" y="6791325"/>
            <a:ext cx="5212080" cy="184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3421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 confirmar: actividades 12, 14 y 18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39160" y="9608820"/>
            <a:ext cx="11887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34214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6596360" cy="1371600"/>
            <a:chOff x="0" y="0"/>
            <a:chExt cx="2212848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768" r="0" b="-1857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de acción para los retrasos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2960" y="2468880"/>
          <a:ext cx="16573500" cy="6305550"/>
        </p:xfrm>
        <a:graphic>
          <a:graphicData uri="http://schemas.openxmlformats.org/drawingml/2006/table">
            <a:tbl>
              <a:tblPr/>
              <a:tblGrid>
                <a:gridCol w="4109444"/>
                <a:gridCol w="7231113"/>
                <a:gridCol w="2887921"/>
                <a:gridCol w="2345022"/>
              </a:tblGrid>
              <a:tr h="8353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Actividad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0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Acción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0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Responsable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0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Fecha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033"/>
                    </a:solidFill>
                  </a:tcPr>
                </a:tc>
              </a:tr>
              <a:tr h="13675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B103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MVP integrado (20)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B10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Registrar series con POST /sets y guardarlas primero en el teléfono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B10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Bastián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B10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19-oct (H5)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675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B103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Voz y sin conexión (21)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B10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Probar el fork @capgo en dispositivo físico; plan B: plugin propio en Kotlin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B10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Bastián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B10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19-oct (H5)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675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B103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Contratos del servidor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B10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Sesión de hoy, historial de e1RM y reutilización del plan vigente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B10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Fernando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B10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26-oct (H6)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675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1B103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Pruebas y correo (22)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B10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Completar suite, backtesting y SMTP propio para el alta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B10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Favio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B10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26-oct (H6)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FA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6139160" y="9608820"/>
            <a:ext cx="11887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34214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6596360" cy="1371600"/>
            <a:chOff x="0" y="0"/>
            <a:chExt cx="2212848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768" r="0" b="-1857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 facilitó y qué dificultó el avance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459355"/>
            <a:ext cx="8111490" cy="6739890"/>
            <a:chOff x="0" y="0"/>
            <a:chExt cx="10815320" cy="8986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15320" cy="8986520"/>
            </a:xfrm>
            <a:custGeom>
              <a:avLst/>
              <a:gdLst/>
              <a:ahLst/>
              <a:cxnLst/>
              <a:rect r="r" b="b" t="t" l="l"/>
              <a:pathLst>
                <a:path h="8986520" w="1081532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595229" y="0"/>
                  </a:lnTo>
                  <a:cubicBezTo>
                    <a:pt x="10716768" y="0"/>
                    <a:pt x="10815320" y="98552"/>
                    <a:pt x="10815320" y="220091"/>
                  </a:cubicBezTo>
                  <a:lnTo>
                    <a:pt x="10815320" y="8766429"/>
                  </a:lnTo>
                  <a:cubicBezTo>
                    <a:pt x="10815320" y="8887968"/>
                    <a:pt x="10716768" y="8986520"/>
                    <a:pt x="10595229" y="8986520"/>
                  </a:cubicBezTo>
                  <a:lnTo>
                    <a:pt x="220091" y="8986520"/>
                  </a:lnTo>
                  <a:cubicBezTo>
                    <a:pt x="98552" y="8986520"/>
                    <a:pt x="0" y="8887968"/>
                    <a:pt x="0" y="8766429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34440" y="2811780"/>
            <a:ext cx="3566160" cy="754380"/>
            <a:chOff x="0" y="0"/>
            <a:chExt cx="475488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54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75488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4389120" y="0"/>
                  </a:lnTo>
                  <a:cubicBezTo>
                    <a:pt x="4591177" y="0"/>
                    <a:pt x="4754880" y="163703"/>
                    <a:pt x="4754880" y="365760"/>
                  </a:cubicBezTo>
                  <a:lnTo>
                    <a:pt x="4754880" y="640080"/>
                  </a:lnTo>
                  <a:cubicBezTo>
                    <a:pt x="4754880" y="842137"/>
                    <a:pt x="4591177" y="1005840"/>
                    <a:pt x="4389120" y="1005840"/>
                  </a:cubicBezTo>
                  <a:lnTo>
                    <a:pt x="365760" y="1005840"/>
                  </a:lnTo>
                  <a:cubicBezTo>
                    <a:pt x="163703" y="1005840"/>
                    <a:pt x="0" y="842137"/>
                    <a:pt x="0" y="640080"/>
                  </a:cubicBezTo>
                  <a:close/>
                </a:path>
              </a:pathLst>
            </a:custGeom>
            <a:solidFill>
              <a:srgbClr val="1B6B3A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754880" cy="1062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Facilitaron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34440" y="3842385"/>
            <a:ext cx="7269480" cy="514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completo antes de construir el cliente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ADR antes de implementar: cambios con trazabilidad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Prototipos HTML y CSS con los mismos tokens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Contratos TypeScript compartidos con el motor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17355" y="2459355"/>
            <a:ext cx="8111490" cy="6739890"/>
            <a:chOff x="0" y="0"/>
            <a:chExt cx="10815320" cy="8986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15320" cy="8986520"/>
            </a:xfrm>
            <a:custGeom>
              <a:avLst/>
              <a:gdLst/>
              <a:ahLst/>
              <a:cxnLst/>
              <a:rect r="r" b="b" t="t" l="l"/>
              <a:pathLst>
                <a:path h="8986520" w="1081532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595229" y="0"/>
                  </a:lnTo>
                  <a:cubicBezTo>
                    <a:pt x="10716768" y="0"/>
                    <a:pt x="10815320" y="98552"/>
                    <a:pt x="10815320" y="220091"/>
                  </a:cubicBezTo>
                  <a:lnTo>
                    <a:pt x="10815320" y="8766429"/>
                  </a:lnTo>
                  <a:cubicBezTo>
                    <a:pt x="10815320" y="8887968"/>
                    <a:pt x="10716768" y="8986520"/>
                    <a:pt x="10595229" y="8986520"/>
                  </a:cubicBezTo>
                  <a:lnTo>
                    <a:pt x="220091" y="8986520"/>
                  </a:lnTo>
                  <a:cubicBezTo>
                    <a:pt x="98552" y="8986520"/>
                    <a:pt x="0" y="8887968"/>
                    <a:pt x="0" y="8766429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738360" y="2811780"/>
            <a:ext cx="3566160" cy="754380"/>
            <a:chOff x="0" y="0"/>
            <a:chExt cx="475488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54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75488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4389120" y="0"/>
                  </a:lnTo>
                  <a:cubicBezTo>
                    <a:pt x="4591177" y="0"/>
                    <a:pt x="4754880" y="163703"/>
                    <a:pt x="4754880" y="365760"/>
                  </a:cubicBezTo>
                  <a:lnTo>
                    <a:pt x="4754880" y="640080"/>
                  </a:lnTo>
                  <a:cubicBezTo>
                    <a:pt x="4754880" y="842137"/>
                    <a:pt x="4591177" y="1005840"/>
                    <a:pt x="4389120" y="1005840"/>
                  </a:cubicBezTo>
                  <a:lnTo>
                    <a:pt x="365760" y="1005840"/>
                  </a:lnTo>
                  <a:cubicBezTo>
                    <a:pt x="163703" y="1005840"/>
                    <a:pt x="0" y="842137"/>
                    <a:pt x="0" y="640080"/>
                  </a:cubicBezTo>
                  <a:close/>
                </a:path>
              </a:pathLst>
            </a:custGeom>
            <a:solidFill>
              <a:srgbClr val="B3261E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754880" cy="1062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Dificultaron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738360" y="3842385"/>
            <a:ext cx="7269480" cy="326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Plugin de voz incompatible con Capacitor 8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Contratos del servidor pendientes: sesión de hoy e historial e1RM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Cambios de identidad visual y de base tecnológica a mitad de la integración</a:t>
            </a:r>
          </a:p>
          <a:p>
            <a:pPr algn="l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Perfil y sesiones creados a mano; SMTP por defecto limitado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39160" y="9608820"/>
            <a:ext cx="11887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34214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6596360" cy="1371600"/>
            <a:chOff x="0" y="0"/>
            <a:chExt cx="2212848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768" r="0" b="-1857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Camino a la entrega del 27 de noviembre</a:t>
              </a:r>
            </a:p>
          </p:txBody>
        </p:sp>
      </p:grpSp>
      <p:sp>
        <p:nvSpPr>
          <p:cNvPr name="AutoShape 5" id="5"/>
          <p:cNvSpPr/>
          <p:nvPr/>
        </p:nvSpPr>
        <p:spPr>
          <a:xfrm rot="16800">
            <a:off x="1333405" y="4095750"/>
            <a:ext cx="15575470" cy="0"/>
          </a:xfrm>
          <a:prstGeom prst="line">
            <a:avLst/>
          </a:prstGeom>
          <a:ln cap="rnd" w="38100">
            <a:solidFill>
              <a:srgbClr val="AFA3C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891540" y="2743200"/>
            <a:ext cx="2606040" cy="685800"/>
            <a:chOff x="0" y="0"/>
            <a:chExt cx="347472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34747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H5 · 19-oct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23085" y="3743325"/>
            <a:ext cx="742950" cy="742950"/>
            <a:chOff x="0" y="0"/>
            <a:chExt cx="990600" cy="990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495300"/>
                  </a:moveTo>
                  <a:cubicBezTo>
                    <a:pt x="0" y="221742"/>
                    <a:pt x="221742" y="0"/>
                    <a:pt x="495300" y="0"/>
                  </a:cubicBezTo>
                  <a:cubicBezTo>
                    <a:pt x="768858" y="0"/>
                    <a:pt x="990600" y="221742"/>
                    <a:pt x="990600" y="495300"/>
                  </a:cubicBezTo>
                  <a:cubicBezTo>
                    <a:pt x="990600" y="768858"/>
                    <a:pt x="768858" y="990600"/>
                    <a:pt x="495300" y="990600"/>
                  </a:cubicBezTo>
                  <a:cubicBezTo>
                    <a:pt x="221742" y="990600"/>
                    <a:pt x="0" y="768858"/>
                    <a:pt x="0" y="495300"/>
                  </a:cubicBezTo>
                  <a:close/>
                </a:path>
              </a:pathLst>
            </a:custGeom>
            <a:solidFill>
              <a:srgbClr val="B3261E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91540" y="4733925"/>
            <a:ext cx="260604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MVP integrado e instalable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634740" y="2743200"/>
            <a:ext cx="2606040" cy="685800"/>
            <a:chOff x="0" y="0"/>
            <a:chExt cx="347472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34747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H6 · 26-oct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66285" y="3743325"/>
            <a:ext cx="742950" cy="742950"/>
            <a:chOff x="0" y="0"/>
            <a:chExt cx="990600" cy="990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495300"/>
                  </a:moveTo>
                  <a:cubicBezTo>
                    <a:pt x="0" y="221742"/>
                    <a:pt x="221742" y="0"/>
                    <a:pt x="495300" y="0"/>
                  </a:cubicBezTo>
                  <a:cubicBezTo>
                    <a:pt x="768858" y="0"/>
                    <a:pt x="990600" y="221742"/>
                    <a:pt x="990600" y="495300"/>
                  </a:cubicBezTo>
                  <a:cubicBezTo>
                    <a:pt x="990600" y="768858"/>
                    <a:pt x="768858" y="990600"/>
                    <a:pt x="495300" y="990600"/>
                  </a:cubicBezTo>
                  <a:cubicBezTo>
                    <a:pt x="221742" y="990600"/>
                    <a:pt x="0" y="768858"/>
                    <a:pt x="0" y="495300"/>
                  </a:cubicBezTo>
                  <a:close/>
                </a:path>
              </a:pathLst>
            </a:custGeom>
            <a:solidFill>
              <a:srgbClr val="6B4FBB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3634740" y="4733925"/>
            <a:ext cx="260604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Validación técnica completada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377940" y="2743200"/>
            <a:ext cx="2606040" cy="685800"/>
            <a:chOff x="0" y="0"/>
            <a:chExt cx="347472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34747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H7 · 30-oct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09485" y="3743325"/>
            <a:ext cx="742950" cy="742950"/>
            <a:chOff x="0" y="0"/>
            <a:chExt cx="990600" cy="990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495300"/>
                  </a:moveTo>
                  <a:cubicBezTo>
                    <a:pt x="0" y="221742"/>
                    <a:pt x="221742" y="0"/>
                    <a:pt x="495300" y="0"/>
                  </a:cubicBezTo>
                  <a:cubicBezTo>
                    <a:pt x="768858" y="0"/>
                    <a:pt x="990600" y="221742"/>
                    <a:pt x="990600" y="495300"/>
                  </a:cubicBezTo>
                  <a:cubicBezTo>
                    <a:pt x="990600" y="768858"/>
                    <a:pt x="768858" y="990600"/>
                    <a:pt x="495300" y="990600"/>
                  </a:cubicBezTo>
                  <a:cubicBezTo>
                    <a:pt x="221742" y="990600"/>
                    <a:pt x="0" y="768858"/>
                    <a:pt x="0" y="495300"/>
                  </a:cubicBezTo>
                  <a:close/>
                </a:path>
              </a:pathLst>
            </a:custGeom>
            <a:solidFill>
              <a:srgbClr val="6B4FBB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377940" y="4733925"/>
            <a:ext cx="260604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Informe de avance entregado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21140" y="2743200"/>
            <a:ext cx="2606040" cy="685800"/>
            <a:chOff x="0" y="0"/>
            <a:chExt cx="347472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34747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H8 · 21-nov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52685" y="3743325"/>
            <a:ext cx="742950" cy="742950"/>
            <a:chOff x="0" y="0"/>
            <a:chExt cx="990600" cy="990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495300"/>
                  </a:moveTo>
                  <a:cubicBezTo>
                    <a:pt x="0" y="221742"/>
                    <a:pt x="221742" y="0"/>
                    <a:pt x="495300" y="0"/>
                  </a:cubicBezTo>
                  <a:cubicBezTo>
                    <a:pt x="768858" y="0"/>
                    <a:pt x="990600" y="221742"/>
                    <a:pt x="990600" y="495300"/>
                  </a:cubicBezTo>
                  <a:cubicBezTo>
                    <a:pt x="990600" y="768858"/>
                    <a:pt x="768858" y="990600"/>
                    <a:pt x="495300" y="990600"/>
                  </a:cubicBezTo>
                  <a:cubicBezTo>
                    <a:pt x="221742" y="990600"/>
                    <a:pt x="0" y="768858"/>
                    <a:pt x="0" y="495300"/>
                  </a:cubicBezTo>
                  <a:close/>
                </a:path>
              </a:pathLst>
            </a:custGeom>
            <a:solidFill>
              <a:srgbClr val="6B4FBB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9121140" y="4733925"/>
            <a:ext cx="260604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Beta cerrada y suscripciones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864340" y="2743200"/>
            <a:ext cx="2606040" cy="685800"/>
            <a:chOff x="0" y="0"/>
            <a:chExt cx="347472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34747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H9 · 25-nov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795885" y="3743325"/>
            <a:ext cx="742950" cy="742950"/>
            <a:chOff x="0" y="0"/>
            <a:chExt cx="990600" cy="990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495300"/>
                  </a:moveTo>
                  <a:cubicBezTo>
                    <a:pt x="0" y="221742"/>
                    <a:pt x="221742" y="0"/>
                    <a:pt x="495300" y="0"/>
                  </a:cubicBezTo>
                  <a:cubicBezTo>
                    <a:pt x="768858" y="0"/>
                    <a:pt x="990600" y="221742"/>
                    <a:pt x="990600" y="495300"/>
                  </a:cubicBezTo>
                  <a:cubicBezTo>
                    <a:pt x="990600" y="768858"/>
                    <a:pt x="768858" y="990600"/>
                    <a:pt x="495300" y="990600"/>
                  </a:cubicBezTo>
                  <a:cubicBezTo>
                    <a:pt x="221742" y="990600"/>
                    <a:pt x="0" y="768858"/>
                    <a:pt x="0" y="495300"/>
                  </a:cubicBezTo>
                  <a:close/>
                </a:path>
              </a:pathLst>
            </a:custGeom>
            <a:solidFill>
              <a:srgbClr val="6B4FBB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1864340" y="4733925"/>
            <a:ext cx="260604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Lista para Google Play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4607540" y="2743200"/>
            <a:ext cx="2606040" cy="685800"/>
            <a:chOff x="0" y="0"/>
            <a:chExt cx="347472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347472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H10 · 27-nov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539085" y="3743325"/>
            <a:ext cx="742950" cy="742950"/>
            <a:chOff x="0" y="0"/>
            <a:chExt cx="990600" cy="990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495300"/>
                  </a:moveTo>
                  <a:cubicBezTo>
                    <a:pt x="0" y="221742"/>
                    <a:pt x="221742" y="0"/>
                    <a:pt x="495300" y="0"/>
                  </a:cubicBezTo>
                  <a:cubicBezTo>
                    <a:pt x="768858" y="0"/>
                    <a:pt x="990600" y="221742"/>
                    <a:pt x="990600" y="495300"/>
                  </a:cubicBezTo>
                  <a:cubicBezTo>
                    <a:pt x="990600" y="768858"/>
                    <a:pt x="768858" y="990600"/>
                    <a:pt x="495300" y="990600"/>
                  </a:cubicBezTo>
                  <a:cubicBezTo>
                    <a:pt x="221742" y="990600"/>
                    <a:pt x="0" y="768858"/>
                    <a:pt x="0" y="495300"/>
                  </a:cubicBezTo>
                  <a:close/>
                </a:path>
              </a:pathLst>
            </a:custGeom>
            <a:solidFill>
              <a:srgbClr val="F6C945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4607540" y="4733925"/>
            <a:ext cx="260604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1B1033"/>
                </a:solidFill>
                <a:latin typeface="Calibri (MS)"/>
                <a:ea typeface="Calibri (MS)"/>
                <a:cs typeface="Calibri (MS)"/>
                <a:sym typeface="Calibri (MS)"/>
              </a:rPr>
              <a:t>Informe final y defensa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13435" y="7397115"/>
            <a:ext cx="16615410" cy="1664970"/>
            <a:chOff x="0" y="0"/>
            <a:chExt cx="22153880" cy="22199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153880" cy="2219960"/>
            </a:xfrm>
            <a:custGeom>
              <a:avLst/>
              <a:gdLst/>
              <a:ahLst/>
              <a:cxnLst/>
              <a:rect r="r" b="b" t="t" l="l"/>
              <a:pathLst>
                <a:path h="2219960" w="2215388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21931885" y="0"/>
                  </a:lnTo>
                  <a:cubicBezTo>
                    <a:pt x="22054440" y="0"/>
                    <a:pt x="22153880" y="99441"/>
                    <a:pt x="22153880" y="221996"/>
                  </a:cubicBezTo>
                  <a:lnTo>
                    <a:pt x="22153880" y="1997964"/>
                  </a:lnTo>
                  <a:cubicBezTo>
                    <a:pt x="22153880" y="2120519"/>
                    <a:pt x="22054440" y="2219960"/>
                    <a:pt x="21931885" y="2219960"/>
                  </a:cubicBezTo>
                  <a:lnTo>
                    <a:pt x="221996" y="2219960"/>
                  </a:lnTo>
                  <a:cubicBezTo>
                    <a:pt x="99441" y="2219960"/>
                    <a:pt x="0" y="2120519"/>
                    <a:pt x="0" y="1997964"/>
                  </a:cubicBezTo>
                  <a:close/>
                </a:path>
              </a:pathLst>
            </a:custGeom>
            <a:solidFill>
              <a:srgbClr val="F3EFFB"/>
            </a:solidFill>
            <a:ln w="19050" cap="sq">
              <a:solidFill>
                <a:srgbClr val="F3EFF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34440" y="7475220"/>
            <a:ext cx="15773400" cy="1508760"/>
            <a:chOff x="0" y="0"/>
            <a:chExt cx="21031200" cy="20116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03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2103120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6B4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Faltan 43 días </a:t>
              </a:r>
              <a:r>
                <a:rPr lang="en-US" sz="3900">
                  <a:solidFill>
                    <a:srgbClr val="1B10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hasta la defensa; el primer cuello de botella es H5.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6139160" y="9608820"/>
            <a:ext cx="11887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34214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596360" cy="1371600"/>
            <a:chOff x="0" y="0"/>
            <a:chExt cx="2212848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768" r="0" b="-1857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2128480" cy="1943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2606040"/>
            <a:ext cx="1234440" cy="1234440"/>
            <a:chOff x="0" y="0"/>
            <a:chExt cx="16459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F6C945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645920" cy="1712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43200" y="2537460"/>
            <a:ext cx="14538960" cy="1371600"/>
            <a:chOff x="0" y="0"/>
            <a:chExt cx="1938528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385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9385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motor y el backend están verificados: 266 pruebas y 51 casos RLS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4663440"/>
            <a:ext cx="1234440" cy="1234440"/>
            <a:chOff x="0" y="0"/>
            <a:chExt cx="1645920" cy="164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F6C945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645920" cy="1712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43200" y="4594860"/>
            <a:ext cx="14538960" cy="1371600"/>
            <a:chOff x="0" y="0"/>
            <a:chExt cx="1938528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85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9385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brecha está en el dispositivo: series, voz y operación sin conexión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6720840"/>
            <a:ext cx="1234440" cy="1234440"/>
            <a:chOff x="0" y="0"/>
            <a:chExt cx="164592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F6C945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645920" cy="1712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B10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43200" y="6652260"/>
            <a:ext cx="14538960" cy="1371600"/>
            <a:chOff x="0" y="0"/>
            <a:chExt cx="1938528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85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9385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Prioridad inmediata: MVP integrado el 19 de octubre y validación técnica el 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7280" y="8641080"/>
            <a:ext cx="16047720" cy="960120"/>
            <a:chOff x="0" y="0"/>
            <a:chExt cx="2139696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3969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678" r="0" b="-27567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21396960" cy="1365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6C9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Gracias · ¿Preguntas?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DAHYGHZ_9s0</dc:identifier>
  <dcterms:modified xsi:type="dcterms:W3CDTF">2011-08-01T06:04:30Z</dcterms:modified>
  <cp:revision>1</cp:revision>
  <dc:title>informe_avance_RID.pptx</dc:title>
</cp:coreProperties>
</file>